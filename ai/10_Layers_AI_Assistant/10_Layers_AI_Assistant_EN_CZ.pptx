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7802575" y="2377440"/>
            <a:ext cx="3840480" cy="502920"/>
          </a:xfrm>
          <a:prstGeom prst="roundRect">
            <a:avLst>
              <a:gd name="adj" fmla="val 14545"/>
            </a:avLst>
          </a:prstGeom>
          <a:solidFill>
            <a:srgbClr val="2A3A8F"/>
          </a:solidFill>
          <a:ln/>
        </p:spPr>
      </p:sp>
      <p:sp>
        <p:nvSpPr>
          <p:cNvPr id="3" name="Shape 1"/>
          <p:cNvSpPr/>
          <p:nvPr/>
        </p:nvSpPr>
        <p:spPr>
          <a:xfrm>
            <a:off x="8442655" y="3035808"/>
            <a:ext cx="3200400" cy="502920"/>
          </a:xfrm>
          <a:prstGeom prst="roundRect">
            <a:avLst>
              <a:gd name="adj" fmla="val 14545"/>
            </a:avLst>
          </a:prstGeom>
          <a:solidFill>
            <a:srgbClr val="3A4DB0"/>
          </a:solidFill>
          <a:ln/>
        </p:spPr>
      </p:sp>
      <p:sp>
        <p:nvSpPr>
          <p:cNvPr id="4" name="Shape 2"/>
          <p:cNvSpPr/>
          <p:nvPr/>
        </p:nvSpPr>
        <p:spPr>
          <a:xfrm>
            <a:off x="9082735" y="3694176"/>
            <a:ext cx="2560320" cy="502920"/>
          </a:xfrm>
          <a:prstGeom prst="roundRect">
            <a:avLst>
              <a:gd name="adj" fmla="val 14545"/>
            </a:avLst>
          </a:prstGeom>
          <a:solidFill>
            <a:srgbClr val="6E86D6"/>
          </a:solidFill>
          <a:ln/>
        </p:spPr>
      </p:sp>
      <p:sp>
        <p:nvSpPr>
          <p:cNvPr id="5" name="Shape 3"/>
          <p:cNvSpPr/>
          <p:nvPr/>
        </p:nvSpPr>
        <p:spPr>
          <a:xfrm>
            <a:off x="9722815" y="4352544"/>
            <a:ext cx="1920240" cy="502920"/>
          </a:xfrm>
          <a:prstGeom prst="roundRect">
            <a:avLst>
              <a:gd name="adj" fmla="val 14545"/>
            </a:avLst>
          </a:prstGeom>
          <a:solidFill>
            <a:srgbClr val="CADCFC"/>
          </a:solidFill>
          <a:ln/>
        </p:spPr>
      </p:sp>
      <p:sp>
        <p:nvSpPr>
          <p:cNvPr id="6" name="Text 4"/>
          <p:cNvSpPr txBox="1"/>
          <p:nvPr/>
        </p:nvSpPr>
        <p:spPr>
          <a:xfrm>
            <a:off x="548640" y="2103120"/>
            <a:ext cx="6583680" cy="8229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10 LAYERS</a:t>
            </a:r>
            <a:endParaRPr lang="en-US" sz="4600" dirty="0"/>
          </a:p>
        </p:txBody>
      </p:sp>
      <p:sp>
        <p:nvSpPr>
          <p:cNvPr id="7" name="Text 5"/>
          <p:cNvSpPr txBox="1"/>
          <p:nvPr/>
        </p:nvSpPr>
        <p:spPr>
          <a:xfrm>
            <a:off x="548640" y="2788920"/>
            <a:ext cx="6583680" cy="50292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of a Production-Ready AI Assistant</a:t>
            </a:r>
            <a:endParaRPr lang="en-US" sz="2200" dirty="0"/>
          </a:p>
        </p:txBody>
      </p:sp>
      <p:sp>
        <p:nvSpPr>
          <p:cNvPr id="8" name="Text 6"/>
          <p:cNvSpPr txBox="1"/>
          <p:nvPr/>
        </p:nvSpPr>
        <p:spPr>
          <a:xfrm>
            <a:off x="548640" y="3566160"/>
            <a:ext cx="6583680" cy="685800"/>
          </a:xfrm>
          <a:prstGeom prst="rect">
            <a:avLst/>
          </a:prstGeom>
          <a:noFill/>
          <a:ln/>
        </p:spPr>
        <p:txBody>
          <a:bodyPr wrap="square" lIns="0" tIns="0" rIns="0" bIns="0" rtlCol="0" anchor="ctr"/>
          <a:lstStyle/>
          <a:p>
            <a:pPr indent="0" marL="0">
              <a:buNone/>
            </a:pPr>
            <a:r>
              <a:rPr lang="en-US" sz="3600" b="1" dirty="0">
                <a:solidFill>
                  <a:srgbClr val="CADCFC"/>
                </a:solidFill>
                <a:latin typeface="Cambria" pitchFamily="34" charset="0"/>
                <a:ea typeface="Cambria" pitchFamily="34" charset="-122"/>
                <a:cs typeface="Cambria" pitchFamily="34" charset="-120"/>
              </a:rPr>
              <a:t>10 VRSTEV</a:t>
            </a:r>
            <a:endParaRPr lang="en-US" sz="3600" dirty="0"/>
          </a:p>
        </p:txBody>
      </p:sp>
      <p:sp>
        <p:nvSpPr>
          <p:cNvPr id="9" name="Text 7"/>
          <p:cNvSpPr txBox="1"/>
          <p:nvPr/>
        </p:nvSpPr>
        <p:spPr>
          <a:xfrm>
            <a:off x="548640" y="4160520"/>
            <a:ext cx="6583680" cy="457200"/>
          </a:xfrm>
          <a:prstGeom prst="rect">
            <a:avLst/>
          </a:prstGeom>
          <a:noFill/>
          <a:ln/>
        </p:spPr>
        <p:txBody>
          <a:bodyPr wrap="square" lIns="0" tIns="0" rIns="0" bIns="0" rtlCol="0" anchor="ctr"/>
          <a:lstStyle/>
          <a:p>
            <a:pPr indent="0" marL="0">
              <a:buNone/>
            </a:pPr>
            <a:r>
              <a:rPr lang="en-US" sz="1900" i="1" dirty="0">
                <a:solidFill>
                  <a:srgbClr val="9FB3DE"/>
                </a:solidFill>
                <a:latin typeface="Calibri" pitchFamily="34" charset="0"/>
                <a:ea typeface="Calibri" pitchFamily="34" charset="-122"/>
                <a:cs typeface="Calibri" pitchFamily="34" charset="-120"/>
              </a:rPr>
              <a:t>produkčního AI asistenta</a:t>
            </a:r>
            <a:endParaRPr lang="en-US" sz="1900" dirty="0"/>
          </a:p>
        </p:txBody>
      </p:sp>
      <p:sp>
        <p:nvSpPr>
          <p:cNvPr id="10" name="Text 8"/>
          <p:cNvSpPr txBox="1"/>
          <p:nvPr/>
        </p:nvSpPr>
        <p:spPr>
          <a:xfrm>
            <a:off x="548640" y="5760720"/>
            <a:ext cx="7772400" cy="548640"/>
          </a:xfrm>
          <a:prstGeom prst="rect">
            <a:avLst/>
          </a:prstGeom>
          <a:noFill/>
          <a:ln/>
        </p:spPr>
        <p:txBody>
          <a:bodyPr wrap="square" lIns="0" tIns="0" rIns="0" bIns="0" rtlCol="0" anchor="ctr"/>
          <a:lstStyle/>
          <a:p>
            <a:pPr indent="0" marL="0">
              <a:buNone/>
            </a:pPr>
            <a:r>
              <a:rPr lang="en-US" sz="1300" dirty="0">
                <a:solidFill>
                  <a:srgbClr val="9FB3DE"/>
                </a:solidFill>
                <a:latin typeface="Calibri" pitchFamily="34" charset="0"/>
                <a:ea typeface="Calibri" pitchFamily="34" charset="-122"/>
                <a:cs typeface="Calibri" pitchFamily="34" charset="-120"/>
              </a:rPr>
              <a:t>Building one small thing to explain the whole AI stack — in English and Czech.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863840" y="-548640"/>
            <a:ext cx="4846320" cy="4846320"/>
          </a:xfrm>
          <a:prstGeom prst="rect">
            <a:avLst/>
          </a:prstGeom>
          <a:noFill/>
          <a:ln/>
        </p:spPr>
        <p:txBody>
          <a:bodyPr wrap="square" lIns="0" tIns="0" rIns="0" bIns="0" rtlCol="0" anchor="ctr"/>
          <a:lstStyle/>
          <a:p>
            <a:pPr algn="ctr" indent="0" marL="0">
              <a:buNone/>
            </a:pPr>
            <a:r>
              <a:rPr lang="en-US" sz="26000" b="1" dirty="0">
                <a:solidFill>
                  <a:srgbClr val="F0F4FC"/>
                </a:solidFill>
                <a:latin typeface="Cambria" pitchFamily="34" charset="0"/>
                <a:ea typeface="Cambria" pitchFamily="34" charset="-122"/>
                <a:cs typeface="Cambria" pitchFamily="34" charset="-120"/>
              </a:rPr>
              <a:t>70</a:t>
            </a:r>
            <a:endParaRPr lang="en-US" sz="26000" dirty="0"/>
          </a:p>
        </p:txBody>
      </p:sp>
      <p:sp>
        <p:nvSpPr>
          <p:cNvPr id="3" name="Text 1"/>
          <p:cNvSpPr txBox="1"/>
          <p:nvPr/>
        </p:nvSpPr>
        <p:spPr>
          <a:xfrm>
            <a:off x="548640" y="548640"/>
            <a:ext cx="5486400" cy="320040"/>
          </a:xfrm>
          <a:prstGeom prst="rect">
            <a:avLst/>
          </a:prstGeom>
          <a:noFill/>
          <a:ln/>
        </p:spPr>
        <p:txBody>
          <a:bodyPr wrap="square" lIns="0" tIns="0" rIns="0" bIns="0" rtlCol="0" anchor="ctr"/>
          <a:lstStyle/>
          <a:p>
            <a:pPr indent="0" marL="0">
              <a:buNone/>
            </a:pPr>
            <a:r>
              <a:rPr lang="en-US" sz="1200" b="1" spc="200" kern="0" dirty="0">
                <a:solidFill>
                  <a:srgbClr val="5A6B8C"/>
                </a:solidFill>
                <a:latin typeface="Calibri" pitchFamily="34" charset="0"/>
                <a:ea typeface="Calibri" pitchFamily="34" charset="-122"/>
                <a:cs typeface="Calibri" pitchFamily="34" charset="-120"/>
              </a:rPr>
              <a:t>WHY THIS DECK</a:t>
            </a:r>
            <a:endParaRPr lang="en-US" sz="1200" dirty="0"/>
          </a:p>
        </p:txBody>
      </p:sp>
      <p:sp>
        <p:nvSpPr>
          <p:cNvPr id="4" name="Text 2"/>
          <p:cNvSpPr txBox="1"/>
          <p:nvPr/>
        </p:nvSpPr>
        <p:spPr>
          <a:xfrm>
            <a:off x="548640" y="1783080"/>
            <a:ext cx="5272888" cy="274320"/>
          </a:xfrm>
          <a:prstGeom prst="rect">
            <a:avLst/>
          </a:prstGeom>
          <a:noFill/>
          <a:ln/>
        </p:spPr>
        <p:txBody>
          <a:bodyPr wrap="square" lIns="0" tIns="0" rIns="0" bIns="0" rtlCol="0" anchor="ctr"/>
          <a:lstStyle/>
          <a:p>
            <a:pPr indent="0" marL="0">
              <a:buNone/>
            </a:pPr>
            <a:r>
              <a:rPr lang="en-US" sz="1100" b="1" spc="200" kern="0" dirty="0">
                <a:solidFill>
                  <a:srgbClr val="5A6B8C"/>
                </a:solidFill>
                <a:latin typeface="Calibri" pitchFamily="34" charset="0"/>
                <a:ea typeface="Calibri" pitchFamily="34" charset="-122"/>
                <a:cs typeface="Calibri" pitchFamily="34" charset="-120"/>
              </a:rPr>
              <a:t>ENGLISH</a:t>
            </a:r>
            <a:endParaRPr lang="en-US" sz="1100" dirty="0"/>
          </a:p>
        </p:txBody>
      </p:sp>
      <p:sp>
        <p:nvSpPr>
          <p:cNvPr id="5" name="Text 3"/>
          <p:cNvSpPr txBox="1"/>
          <p:nvPr/>
        </p:nvSpPr>
        <p:spPr>
          <a:xfrm>
            <a:off x="6370168" y="1783080"/>
            <a:ext cx="5272888"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ČESKY</a:t>
            </a:r>
            <a:endParaRPr lang="en-US" sz="1100" dirty="0"/>
          </a:p>
        </p:txBody>
      </p:sp>
      <p:sp>
        <p:nvSpPr>
          <p:cNvPr id="6" name="Text 4"/>
          <p:cNvSpPr txBox="1"/>
          <p:nvPr/>
        </p:nvSpPr>
        <p:spPr>
          <a:xfrm>
            <a:off x="548640" y="2103120"/>
            <a:ext cx="5272888" cy="3931920"/>
          </a:xfrm>
          <a:prstGeom prst="rect">
            <a:avLst/>
          </a:prstGeom>
          <a:noFill/>
          <a:ln/>
        </p:spPr>
        <p:txBody>
          <a:bodyPr wrap="square" lIns="0" tIns="0" rIns="0" bIns="0" rtlCol="0" anchor="ctr"/>
          <a:lstStyle/>
          <a:p>
            <a:pPr indent="0" marL="0">
              <a:lnSpc>
                <a:spcPct val="130000"/>
              </a:lnSpc>
              <a:buNone/>
            </a:pPr>
            <a:r>
              <a:rPr lang="en-US" sz="1700" dirty="0">
                <a:solidFill>
                  <a:srgbClr val="2B2B2B"/>
                </a:solidFill>
                <a:latin typeface="Calibri" pitchFamily="34" charset="0"/>
                <a:ea typeface="Calibri" pitchFamily="34" charset="-122"/>
                <a:cs typeface="Calibri" pitchFamily="34" charset="-120"/>
              </a:rPr>
              <a:t>Everyone can name 70 AI tools.</a:t>
            </a:r>
            <a:endParaRPr lang="en-US" sz="1700" dirty="0"/>
          </a:p>
          <a:p>
            <a:pPr indent="0" marL="0">
              <a:lnSpc>
                <a:spcPct val="130000"/>
              </a:lnSpc>
              <a:buNone/>
            </a:pPr>
            <a:endParaRPr lang="en-US" sz="1700" dirty="0"/>
          </a:p>
          <a:p>
            <a:pPr indent="0" marL="0">
              <a:lnSpc>
                <a:spcPct val="130000"/>
              </a:lnSpc>
              <a:buNone/>
            </a:pPr>
            <a:r>
              <a:rPr lang="en-US" sz="1700" dirty="0">
                <a:solidFill>
                  <a:srgbClr val="2B2B2B"/>
                </a:solidFill>
                <a:latin typeface="Calibri" pitchFamily="34" charset="0"/>
                <a:ea typeface="Calibri" pitchFamily="34" charset="-122"/>
                <a:cs typeface="Calibri" pitchFamily="34" charset="-120"/>
              </a:rPr>
              <a:t>Very few can explain what half of them actually do.</a:t>
            </a:r>
            <a:endParaRPr lang="en-US" sz="1700" dirty="0"/>
          </a:p>
          <a:p>
            <a:pPr indent="0" marL="0">
              <a:lnSpc>
                <a:spcPct val="130000"/>
              </a:lnSpc>
              <a:buNone/>
            </a:pPr>
            <a:endParaRPr lang="en-US" sz="1700" dirty="0"/>
          </a:p>
          <a:p>
            <a:pPr indent="0" marL="0">
              <a:lnSpc>
                <a:spcPct val="130000"/>
              </a:lnSpc>
              <a:buNone/>
            </a:pPr>
            <a:r>
              <a:rPr lang="en-US" sz="1700" dirty="0">
                <a:solidFill>
                  <a:srgbClr val="2B2B2B"/>
                </a:solidFill>
                <a:latin typeface="Calibri" pitchFamily="34" charset="0"/>
                <a:ea typeface="Calibri" pitchFamily="34" charset="-122"/>
                <a:cs typeface="Calibri" pitchFamily="34" charset="-120"/>
              </a:rPr>
              <a:t>So instead of listing them, let's build one small thing and let the project explain the stack.</a:t>
            </a:r>
            <a:endParaRPr lang="en-US" sz="1700" dirty="0"/>
          </a:p>
        </p:txBody>
      </p:sp>
      <p:sp>
        <p:nvSpPr>
          <p:cNvPr id="7" name="Text 5"/>
          <p:cNvSpPr txBox="1"/>
          <p:nvPr/>
        </p:nvSpPr>
        <p:spPr>
          <a:xfrm>
            <a:off x="6370168" y="2103120"/>
            <a:ext cx="5272888" cy="3931920"/>
          </a:xfrm>
          <a:prstGeom prst="rect">
            <a:avLst/>
          </a:prstGeom>
          <a:noFill/>
          <a:ln/>
        </p:spPr>
        <p:txBody>
          <a:bodyPr wrap="square" lIns="0" tIns="0" rIns="0" bIns="0" rtlCol="0" anchor="ctr"/>
          <a:lstStyle/>
          <a:p>
            <a:pPr indent="0" marL="0">
              <a:lnSpc>
                <a:spcPct val="130000"/>
              </a:lnSpc>
              <a:buNone/>
            </a:pPr>
            <a:r>
              <a:rPr lang="en-US" sz="1700" dirty="0">
                <a:solidFill>
                  <a:srgbClr val="2B2B2B"/>
                </a:solidFill>
                <a:latin typeface="Calibri" pitchFamily="34" charset="0"/>
                <a:ea typeface="Calibri" pitchFamily="34" charset="-122"/>
                <a:cs typeface="Calibri" pitchFamily="34" charset="-120"/>
              </a:rPr>
              <a:t>Každý dokáže vyjmenovat 70 AI nástrojů.</a:t>
            </a:r>
            <a:endParaRPr lang="en-US" sz="1700" dirty="0"/>
          </a:p>
          <a:p>
            <a:pPr indent="0" marL="0">
              <a:lnSpc>
                <a:spcPct val="130000"/>
              </a:lnSpc>
              <a:buNone/>
            </a:pPr>
            <a:endParaRPr lang="en-US" sz="1700" dirty="0"/>
          </a:p>
          <a:p>
            <a:pPr indent="0" marL="0">
              <a:lnSpc>
                <a:spcPct val="130000"/>
              </a:lnSpc>
              <a:buNone/>
            </a:pPr>
            <a:r>
              <a:rPr lang="en-US" sz="1700" dirty="0">
                <a:solidFill>
                  <a:srgbClr val="2B2B2B"/>
                </a:solidFill>
                <a:latin typeface="Calibri" pitchFamily="34" charset="0"/>
                <a:ea typeface="Calibri" pitchFamily="34" charset="-122"/>
                <a:cs typeface="Calibri" pitchFamily="34" charset="-120"/>
              </a:rPr>
              <a:t>Málokdo dokáže vysvětlit, co polovina z nich vlastně dělá.</a:t>
            </a:r>
            <a:endParaRPr lang="en-US" sz="1700" dirty="0"/>
          </a:p>
          <a:p>
            <a:pPr indent="0" marL="0">
              <a:lnSpc>
                <a:spcPct val="130000"/>
              </a:lnSpc>
              <a:buNone/>
            </a:pPr>
            <a:endParaRPr lang="en-US" sz="1700" dirty="0"/>
          </a:p>
          <a:p>
            <a:pPr indent="0" marL="0">
              <a:lnSpc>
                <a:spcPct val="130000"/>
              </a:lnSpc>
              <a:buNone/>
            </a:pPr>
            <a:r>
              <a:rPr lang="en-US" sz="1700" dirty="0">
                <a:solidFill>
                  <a:srgbClr val="2B2B2B"/>
                </a:solidFill>
                <a:latin typeface="Calibri" pitchFamily="34" charset="0"/>
                <a:ea typeface="Calibri" pitchFamily="34" charset="-122"/>
                <a:cs typeface="Calibri" pitchFamily="34" charset="-120"/>
              </a:rPr>
              <a:t>Místo vyjmenovávání si tedy postavme jednu malou věc a nechme projekt vysvětlit celý stack.</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48640"/>
            <a:ext cx="822960" cy="91440"/>
          </a:xfrm>
          <a:prstGeom prst="roundRect">
            <a:avLst>
              <a:gd name="adj" fmla="val 20000"/>
            </a:avLst>
          </a:prstGeom>
          <a:solidFill>
            <a:srgbClr val="1E2761"/>
          </a:solidFill>
          <a:ln/>
        </p:spPr>
      </p:sp>
      <p:sp>
        <p:nvSpPr>
          <p:cNvPr id="3" name="Shape 1"/>
          <p:cNvSpPr/>
          <p:nvPr/>
        </p:nvSpPr>
        <p:spPr>
          <a:xfrm>
            <a:off x="630936" y="694944"/>
            <a:ext cx="658368" cy="91440"/>
          </a:xfrm>
          <a:prstGeom prst="roundRect">
            <a:avLst>
              <a:gd name="adj" fmla="val 20000"/>
            </a:avLst>
          </a:prstGeom>
          <a:solidFill>
            <a:srgbClr val="CADCFC"/>
          </a:solidFill>
          <a:ln/>
        </p:spPr>
      </p:sp>
      <p:sp>
        <p:nvSpPr>
          <p:cNvPr id="4" name="Shape 2"/>
          <p:cNvSpPr/>
          <p:nvPr/>
        </p:nvSpPr>
        <p:spPr>
          <a:xfrm>
            <a:off x="713232" y="841248"/>
            <a:ext cx="493776" cy="91440"/>
          </a:xfrm>
          <a:prstGeom prst="roundRect">
            <a:avLst>
              <a:gd name="adj" fmla="val 20000"/>
            </a:avLst>
          </a:prstGeom>
          <a:solidFill>
            <a:srgbClr val="1E2761"/>
          </a:solidFill>
          <a:ln/>
        </p:spPr>
      </p:sp>
      <p:sp>
        <p:nvSpPr>
          <p:cNvPr id="5" name="Shape 3"/>
          <p:cNvSpPr/>
          <p:nvPr/>
        </p:nvSpPr>
        <p:spPr>
          <a:xfrm>
            <a:off x="795528" y="987552"/>
            <a:ext cx="329184" cy="91440"/>
          </a:xfrm>
          <a:prstGeom prst="roundRect">
            <a:avLst>
              <a:gd name="adj" fmla="val 20000"/>
            </a:avLst>
          </a:prstGeom>
          <a:solidFill>
            <a:srgbClr val="CADCFC"/>
          </a:solidFill>
          <a:ln/>
        </p:spPr>
      </p:sp>
      <p:sp>
        <p:nvSpPr>
          <p:cNvPr id="6" name="Text 4"/>
          <p:cNvSpPr txBox="1"/>
          <p:nvPr/>
        </p:nvSpPr>
        <p:spPr>
          <a:xfrm>
            <a:off x="1645920" y="502920"/>
            <a:ext cx="7315200" cy="82296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THE PROJECT / PROJEKT</a:t>
            </a:r>
            <a:endParaRPr lang="en-US" sz="2600" dirty="0"/>
          </a:p>
        </p:txBody>
      </p:sp>
      <p:sp>
        <p:nvSpPr>
          <p:cNvPr id="7" name="Shape 5"/>
          <p:cNvSpPr/>
          <p:nvPr/>
        </p:nvSpPr>
        <p:spPr>
          <a:xfrm>
            <a:off x="548640" y="1645920"/>
            <a:ext cx="11094415" cy="4480560"/>
          </a:xfrm>
          <a:prstGeom prst="roundRect">
            <a:avLst>
              <a:gd name="adj" fmla="val 1633"/>
            </a:avLst>
          </a:prstGeom>
          <a:solidFill>
            <a:srgbClr val="F0F4FC"/>
          </a:solidFill>
          <a:ln/>
        </p:spPr>
      </p:sp>
      <p:sp>
        <p:nvSpPr>
          <p:cNvPr id="8" name="Text 6"/>
          <p:cNvSpPr txBox="1"/>
          <p:nvPr/>
        </p:nvSpPr>
        <p:spPr>
          <a:xfrm>
            <a:off x="548640" y="1783080"/>
            <a:ext cx="5272888" cy="274320"/>
          </a:xfrm>
          <a:prstGeom prst="rect">
            <a:avLst/>
          </a:prstGeom>
          <a:noFill/>
          <a:ln/>
        </p:spPr>
        <p:txBody>
          <a:bodyPr wrap="square" lIns="0" tIns="0" rIns="0" bIns="0" rtlCol="0" anchor="ctr"/>
          <a:lstStyle/>
          <a:p>
            <a:pPr indent="0" marL="0">
              <a:buNone/>
            </a:pPr>
            <a:r>
              <a:rPr lang="en-US" sz="1100" b="1" spc="200" kern="0" dirty="0">
                <a:solidFill>
                  <a:srgbClr val="5A6B8C"/>
                </a:solidFill>
                <a:latin typeface="Calibri" pitchFamily="34" charset="0"/>
                <a:ea typeface="Calibri" pitchFamily="34" charset="-122"/>
                <a:cs typeface="Calibri" pitchFamily="34" charset="-120"/>
              </a:rPr>
              <a:t>ENGLISH</a:t>
            </a:r>
            <a:endParaRPr lang="en-US" sz="1100" dirty="0"/>
          </a:p>
        </p:txBody>
      </p:sp>
      <p:sp>
        <p:nvSpPr>
          <p:cNvPr id="9" name="Text 7"/>
          <p:cNvSpPr txBox="1"/>
          <p:nvPr/>
        </p:nvSpPr>
        <p:spPr>
          <a:xfrm>
            <a:off x="6370168" y="1783080"/>
            <a:ext cx="5272888"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ČESKY</a:t>
            </a:r>
            <a:endParaRPr lang="en-US" sz="1100" dirty="0"/>
          </a:p>
        </p:txBody>
      </p:sp>
      <p:sp>
        <p:nvSpPr>
          <p:cNvPr id="10" name="Text 8"/>
          <p:cNvSpPr txBox="1"/>
          <p:nvPr/>
        </p:nvSpPr>
        <p:spPr>
          <a:xfrm>
            <a:off x="548640" y="2194560"/>
            <a:ext cx="5272888" cy="3566160"/>
          </a:xfrm>
          <a:prstGeom prst="rect">
            <a:avLst/>
          </a:prstGeom>
          <a:noFill/>
          <a:ln/>
        </p:spPr>
        <p:txBody>
          <a:bodyPr wrap="square" lIns="0" tIns="0" rIns="0" bIns="0" rtlCol="0" anchor="ctr"/>
          <a:lstStyle/>
          <a:p>
            <a:pPr indent="0" marL="0">
              <a:lnSpc>
                <a:spcPct val="130000"/>
              </a:lnSpc>
              <a:buNone/>
            </a:pPr>
            <a:r>
              <a:rPr lang="en-US" sz="1800" dirty="0">
                <a:solidFill>
                  <a:srgbClr val="2B2B2B"/>
                </a:solidFill>
                <a:latin typeface="Calibri" pitchFamily="34" charset="0"/>
                <a:ea typeface="Calibri" pitchFamily="34" charset="-122"/>
                <a:cs typeface="Calibri" pitchFamily="34" charset="-120"/>
              </a:rPr>
              <a:t>An internal assistant that answers customer support questions from your company docs, and raises a refund ticket when it needs to.</a:t>
            </a:r>
            <a:endParaRPr lang="en-US" sz="1800" dirty="0"/>
          </a:p>
        </p:txBody>
      </p:sp>
      <p:sp>
        <p:nvSpPr>
          <p:cNvPr id="11" name="Text 9"/>
          <p:cNvSpPr txBox="1"/>
          <p:nvPr/>
        </p:nvSpPr>
        <p:spPr>
          <a:xfrm>
            <a:off x="6370168" y="2194560"/>
            <a:ext cx="5272888" cy="3566160"/>
          </a:xfrm>
          <a:prstGeom prst="rect">
            <a:avLst/>
          </a:prstGeom>
          <a:noFill/>
          <a:ln/>
        </p:spPr>
        <p:txBody>
          <a:bodyPr wrap="square" lIns="0" tIns="0" rIns="0" bIns="0" rtlCol="0" anchor="ctr"/>
          <a:lstStyle/>
          <a:p>
            <a:pPr indent="0" marL="0">
              <a:lnSpc>
                <a:spcPct val="130000"/>
              </a:lnSpc>
              <a:buNone/>
            </a:pPr>
            <a:r>
              <a:rPr lang="en-US" sz="1800" dirty="0">
                <a:solidFill>
                  <a:srgbClr val="2B2B2B"/>
                </a:solidFill>
                <a:latin typeface="Calibri" pitchFamily="34" charset="0"/>
                <a:ea typeface="Calibri" pitchFamily="34" charset="-122"/>
                <a:cs typeface="Calibri" pitchFamily="34" charset="-120"/>
              </a:rPr>
              <a:t>Interní asistent, který odpovídá na zákaznické dotazy na základě firemní dokumentace a v případě potřeby sám založí reklamační tiket.</a:t>
            </a:r>
            <a:endParaRPr lang="en-US" sz="1800" dirty="0"/>
          </a:p>
        </p:txBody>
      </p:sp>
      <p:sp>
        <p:nvSpPr>
          <p:cNvPr id="12" name="Text 10"/>
          <p:cNvSpPr txBox="1"/>
          <p:nvPr/>
        </p:nvSpPr>
        <p:spPr>
          <a:xfrm>
            <a:off x="548640" y="5989320"/>
            <a:ext cx="11094415" cy="365760"/>
          </a:xfrm>
          <a:prstGeom prst="rect">
            <a:avLst/>
          </a:prstGeom>
          <a:noFill/>
          <a:ln/>
        </p:spPr>
        <p:txBody>
          <a:bodyPr wrap="square" lIns="0" tIns="0" rIns="0" bIns="0" rtlCol="0" anchor="ctr"/>
          <a:lstStyle/>
          <a:p>
            <a:pPr indent="0" marL="0">
              <a:buNone/>
            </a:pPr>
            <a:r>
              <a:rPr lang="en-US" sz="1200" i="1" dirty="0">
                <a:solidFill>
                  <a:srgbClr val="5A6B8C"/>
                </a:solidFill>
                <a:latin typeface="Calibri" pitchFamily="34" charset="0"/>
                <a:ea typeface="Calibri" pitchFamily="34" charset="-122"/>
                <a:cs typeface="Calibri" pitchFamily="34" charset="-120"/>
              </a:rPr>
              <a:t>10 layers, in the order you'd actually build them.  ·  10 vrstev, v pořadí, v jakém je skutečně stavíte.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141568" y="1645920"/>
            <a:ext cx="5730088" cy="4480560"/>
          </a:xfrm>
          <a:prstGeom prst="roundRect">
            <a:avLst>
              <a:gd name="adj" fmla="val 1633"/>
            </a:avLst>
          </a:prstGeom>
          <a:solidFill>
            <a:srgbClr val="F0F4FC"/>
          </a:solidFill>
          <a:ln/>
        </p:spPr>
      </p:sp>
      <p:sp>
        <p:nvSpPr>
          <p:cNvPr id="3" name="Shape 1"/>
          <p:cNvSpPr/>
          <p:nvPr/>
        </p:nvSpPr>
        <p:spPr>
          <a:xfrm>
            <a:off x="548640" y="502920"/>
            <a:ext cx="822960" cy="822960"/>
          </a:xfrm>
          <a:prstGeom prst="ellipse">
            <a:avLst/>
          </a:prstGeom>
          <a:solidFill>
            <a:srgbClr val="1E2761"/>
          </a:solidFill>
          <a:ln/>
        </p:spPr>
      </p:sp>
      <p:sp>
        <p:nvSpPr>
          <p:cNvPr id="4" name="Text 2"/>
          <p:cNvSpPr txBox="1"/>
          <p:nvPr/>
        </p:nvSpPr>
        <p:spPr>
          <a:xfrm>
            <a:off x="5486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5" name="Shape 3"/>
          <p:cNvSpPr/>
          <p:nvPr/>
        </p:nvSpPr>
        <p:spPr>
          <a:xfrm>
            <a:off x="10820095" y="502920"/>
            <a:ext cx="822960" cy="91440"/>
          </a:xfrm>
          <a:prstGeom prst="roundRect">
            <a:avLst>
              <a:gd name="adj" fmla="val 20000"/>
            </a:avLst>
          </a:prstGeom>
          <a:solidFill>
            <a:srgbClr val="CADCFC"/>
          </a:solidFill>
          <a:ln/>
        </p:spPr>
      </p:sp>
      <p:sp>
        <p:nvSpPr>
          <p:cNvPr id="6" name="Shape 4"/>
          <p:cNvSpPr/>
          <p:nvPr/>
        </p:nvSpPr>
        <p:spPr>
          <a:xfrm>
            <a:off x="10902391" y="649224"/>
            <a:ext cx="658368" cy="91440"/>
          </a:xfrm>
          <a:prstGeom prst="roundRect">
            <a:avLst>
              <a:gd name="adj" fmla="val 20000"/>
            </a:avLst>
          </a:prstGeom>
          <a:solidFill>
            <a:srgbClr val="1E2761"/>
          </a:solidFill>
          <a:ln/>
        </p:spPr>
      </p:sp>
      <p:sp>
        <p:nvSpPr>
          <p:cNvPr id="7" name="Shape 5"/>
          <p:cNvSpPr/>
          <p:nvPr/>
        </p:nvSpPr>
        <p:spPr>
          <a:xfrm>
            <a:off x="10984687" y="795528"/>
            <a:ext cx="493776" cy="91440"/>
          </a:xfrm>
          <a:prstGeom prst="roundRect">
            <a:avLst>
              <a:gd name="adj" fmla="val 20000"/>
            </a:avLst>
          </a:prstGeom>
          <a:solidFill>
            <a:srgbClr val="CADCFC"/>
          </a:solidFill>
          <a:ln/>
        </p:spPr>
      </p:sp>
      <p:sp>
        <p:nvSpPr>
          <p:cNvPr id="8" name="Shape 6"/>
          <p:cNvSpPr/>
          <p:nvPr/>
        </p:nvSpPr>
        <p:spPr>
          <a:xfrm>
            <a:off x="11066983" y="941832"/>
            <a:ext cx="329184" cy="91440"/>
          </a:xfrm>
          <a:prstGeom prst="roundRect">
            <a:avLst>
              <a:gd name="adj" fmla="val 20000"/>
            </a:avLst>
          </a:prstGeom>
          <a:solidFill>
            <a:srgbClr val="1E2761"/>
          </a:solidFill>
          <a:ln/>
        </p:spPr>
      </p:sp>
      <p:sp>
        <p:nvSpPr>
          <p:cNvPr id="9" name="Text 7"/>
          <p:cNvSpPr txBox="1"/>
          <p:nvPr/>
        </p:nvSpPr>
        <p:spPr>
          <a:xfrm>
            <a:off x="1600200" y="457200"/>
            <a:ext cx="7772400" cy="50292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Embedding</a:t>
            </a:r>
            <a:endParaRPr lang="en-US" sz="2800" dirty="0"/>
          </a:p>
        </p:txBody>
      </p:sp>
      <p:sp>
        <p:nvSpPr>
          <p:cNvPr id="10" name="Text 8"/>
          <p:cNvSpPr txBox="1"/>
          <p:nvPr/>
        </p:nvSpPr>
        <p:spPr>
          <a:xfrm>
            <a:off x="1600200" y="960120"/>
            <a:ext cx="7772400" cy="365760"/>
          </a:xfrm>
          <a:prstGeom prst="rect">
            <a:avLst/>
          </a:prstGeom>
          <a:noFill/>
          <a:ln/>
        </p:spPr>
        <p:txBody>
          <a:bodyPr wrap="square" lIns="0" tIns="0" rIns="0" bIns="0" rtlCol="0" anchor="ctr"/>
          <a:lstStyle/>
          <a:p>
            <a:pPr indent="0" marL="0">
              <a:buNone/>
            </a:pPr>
            <a:r>
              <a:rPr lang="en-US" sz="1700" i="1" dirty="0">
                <a:solidFill>
                  <a:srgbClr val="5A6B8C"/>
                </a:solidFill>
                <a:latin typeface="Calibri" pitchFamily="34" charset="0"/>
                <a:ea typeface="Calibri" pitchFamily="34" charset="-122"/>
                <a:cs typeface="Calibri" pitchFamily="34" charset="-120"/>
              </a:rPr>
              <a:t>Embedding</a:t>
            </a:r>
            <a:endParaRPr lang="en-US" sz="1700" dirty="0"/>
          </a:p>
        </p:txBody>
      </p:sp>
      <p:sp>
        <p:nvSpPr>
          <p:cNvPr id="11" name="Text 9"/>
          <p:cNvSpPr txBox="1"/>
          <p:nvPr/>
        </p:nvSpPr>
        <p:spPr>
          <a:xfrm>
            <a:off x="548640" y="1783080"/>
            <a:ext cx="5272888" cy="274320"/>
          </a:xfrm>
          <a:prstGeom prst="rect">
            <a:avLst/>
          </a:prstGeom>
          <a:noFill/>
          <a:ln/>
        </p:spPr>
        <p:txBody>
          <a:bodyPr wrap="square" lIns="0" tIns="0" rIns="0" bIns="0" rtlCol="0" anchor="ctr"/>
          <a:lstStyle/>
          <a:p>
            <a:pPr indent="0" marL="0">
              <a:buNone/>
            </a:pPr>
            <a:r>
              <a:rPr lang="en-US" sz="1100" b="1" spc="200" kern="0" dirty="0">
                <a:solidFill>
                  <a:srgbClr val="5A6B8C"/>
                </a:solidFill>
                <a:latin typeface="Calibri" pitchFamily="34" charset="0"/>
                <a:ea typeface="Calibri" pitchFamily="34" charset="-122"/>
                <a:cs typeface="Calibri" pitchFamily="34" charset="-120"/>
              </a:rPr>
              <a:t>ENGLISH</a:t>
            </a:r>
            <a:endParaRPr lang="en-US" sz="1100" dirty="0"/>
          </a:p>
        </p:txBody>
      </p:sp>
      <p:sp>
        <p:nvSpPr>
          <p:cNvPr id="12" name="Text 10"/>
          <p:cNvSpPr txBox="1"/>
          <p:nvPr/>
        </p:nvSpPr>
        <p:spPr>
          <a:xfrm>
            <a:off x="6370168" y="1783080"/>
            <a:ext cx="5272888"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ČESKY</a:t>
            </a:r>
            <a:endParaRPr lang="en-US" sz="1100" dirty="0"/>
          </a:p>
        </p:txBody>
      </p:sp>
      <p:sp>
        <p:nvSpPr>
          <p:cNvPr id="13" name="Text 11"/>
          <p:cNvSpPr txBox="1"/>
          <p:nvPr/>
        </p:nvSpPr>
        <p:spPr>
          <a:xfrm>
            <a:off x="548640" y="2103120"/>
            <a:ext cx="5272888" cy="3931920"/>
          </a:xfrm>
          <a:prstGeom prst="rect">
            <a:avLst/>
          </a:prstGeom>
          <a:noFill/>
          <a:ln/>
        </p:spPr>
        <p:txBody>
          <a:bodyPr wrap="square" lIns="0" tIns="0" rIns="0" bIns="0" rtlCol="0" anchor="t"/>
          <a:lstStyle/>
          <a:p>
            <a:pPr indent="0" marL="0">
              <a:lnSpc>
                <a:spcPct val="125000"/>
              </a:lnSpc>
              <a:buNone/>
            </a:pPr>
            <a:r>
              <a:rPr lang="en-US" sz="1450" dirty="0">
                <a:solidFill>
                  <a:srgbClr val="2B2B2B"/>
                </a:solidFill>
                <a:latin typeface="Calibri" pitchFamily="34" charset="0"/>
                <a:ea typeface="Calibri" pitchFamily="34" charset="-122"/>
                <a:cs typeface="Calibri" pitchFamily="34" charset="-120"/>
              </a:rPr>
              <a:t>Your docs are text. First you chunk them into passages, then turn each chunk into a vector — a list of numbers that captures meaning, not just words. Now “can I get a refund” and “how do I return an item” can be compared even though they share no keywords.</a:t>
            </a:r>
            <a:endParaRPr lang="en-US" sz="1450" dirty="0"/>
          </a:p>
        </p:txBody>
      </p:sp>
      <p:sp>
        <p:nvSpPr>
          <p:cNvPr id="14" name="Text 12"/>
          <p:cNvSpPr txBox="1"/>
          <p:nvPr/>
        </p:nvSpPr>
        <p:spPr>
          <a:xfrm>
            <a:off x="6370168" y="2103120"/>
            <a:ext cx="5272888" cy="3931920"/>
          </a:xfrm>
          <a:prstGeom prst="rect">
            <a:avLst/>
          </a:prstGeom>
          <a:noFill/>
          <a:ln/>
        </p:spPr>
        <p:txBody>
          <a:bodyPr wrap="square" lIns="0" tIns="0" rIns="0" bIns="0" rtlCol="0" anchor="t"/>
          <a:lstStyle/>
          <a:p>
            <a:pPr indent="0" marL="0">
              <a:lnSpc>
                <a:spcPct val="125000"/>
              </a:lnSpc>
              <a:buNone/>
            </a:pPr>
            <a:r>
              <a:rPr lang="en-US" sz="1450" dirty="0">
                <a:solidFill>
                  <a:srgbClr val="2B2B2B"/>
                </a:solidFill>
                <a:latin typeface="Calibri" pitchFamily="34" charset="0"/>
                <a:ea typeface="Calibri" pitchFamily="34" charset="-122"/>
                <a:cs typeface="Calibri" pitchFamily="34" charset="-120"/>
              </a:rPr>
              <a:t>Vaše dokumenty jsou text. Nejdřív je rozdělíte na menší úseky (chunky) a každý převedete na vektor – řadu čísel, která zachycuje význam, ne jen slova. Teď lze porovnat „chci vrátit peníze“ a „jak vrátím zboží“, i když nemají žádné společné klíčové slovo.</a:t>
            </a:r>
            <a:endParaRPr lang="en-US" sz="1450" dirty="0"/>
          </a:p>
        </p:txBody>
      </p:sp>
      <p:sp>
        <p:nvSpPr>
          <p:cNvPr id="15" name="Shape 13"/>
          <p:cNvSpPr/>
          <p:nvPr/>
        </p:nvSpPr>
        <p:spPr>
          <a:xfrm>
            <a:off x="9265615" y="5943600"/>
            <a:ext cx="2377440" cy="365760"/>
          </a:xfrm>
          <a:prstGeom prst="roundRect">
            <a:avLst>
              <a:gd name="adj" fmla="val 50000"/>
            </a:avLst>
          </a:prstGeom>
          <a:solidFill>
            <a:srgbClr val="CADCFC"/>
          </a:solidFill>
          <a:ln/>
        </p:spPr>
      </p:sp>
      <p:sp>
        <p:nvSpPr>
          <p:cNvPr id="16" name="Text 14"/>
          <p:cNvSpPr txBox="1"/>
          <p:nvPr/>
        </p:nvSpPr>
        <p:spPr>
          <a:xfrm>
            <a:off x="9265615" y="5943600"/>
            <a:ext cx="2377440" cy="365760"/>
          </a:xfrm>
          <a:prstGeom prst="rect">
            <a:avLst/>
          </a:prstGeom>
          <a:noFill/>
          <a:ln/>
        </p:spPr>
        <p:txBody>
          <a:bodyPr wrap="square" lIns="0" tIns="0" rIns="0" bIns="0" rtlCol="0" anchor="ctr"/>
          <a:lstStyle/>
          <a:p>
            <a:pPr algn="ctr" indent="0" marL="0">
              <a:buNone/>
            </a:pPr>
            <a:r>
              <a:rPr lang="en-US" sz="1100" b="1" spc="100" kern="0" dirty="0">
                <a:solidFill>
                  <a:srgbClr val="1E2761"/>
                </a:solidFill>
                <a:latin typeface="Calibri" pitchFamily="34" charset="0"/>
                <a:ea typeface="Calibri" pitchFamily="34" charset="-122"/>
                <a:cs typeface="Calibri" pitchFamily="34" charset="-120"/>
              </a:rPr>
              <a:t>WEEKEND DEMO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141568" y="1645920"/>
            <a:ext cx="5730088" cy="4480560"/>
          </a:xfrm>
          <a:prstGeom prst="roundRect">
            <a:avLst>
              <a:gd name="adj" fmla="val 1633"/>
            </a:avLst>
          </a:prstGeom>
          <a:solidFill>
            <a:srgbClr val="F0F4FC"/>
          </a:solidFill>
          <a:ln/>
        </p:spPr>
      </p:sp>
      <p:sp>
        <p:nvSpPr>
          <p:cNvPr id="3" name="Shape 1"/>
          <p:cNvSpPr/>
          <p:nvPr/>
        </p:nvSpPr>
        <p:spPr>
          <a:xfrm>
            <a:off x="548640" y="502920"/>
            <a:ext cx="822960" cy="822960"/>
          </a:xfrm>
          <a:prstGeom prst="ellipse">
            <a:avLst/>
          </a:prstGeom>
          <a:solidFill>
            <a:srgbClr val="1E2761"/>
          </a:solidFill>
          <a:ln/>
        </p:spPr>
      </p:sp>
      <p:sp>
        <p:nvSpPr>
          <p:cNvPr id="4" name="Text 2"/>
          <p:cNvSpPr txBox="1"/>
          <p:nvPr/>
        </p:nvSpPr>
        <p:spPr>
          <a:xfrm>
            <a:off x="5486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5" name="Shape 3"/>
          <p:cNvSpPr/>
          <p:nvPr/>
        </p:nvSpPr>
        <p:spPr>
          <a:xfrm>
            <a:off x="10820095" y="502920"/>
            <a:ext cx="822960" cy="91440"/>
          </a:xfrm>
          <a:prstGeom prst="roundRect">
            <a:avLst>
              <a:gd name="adj" fmla="val 20000"/>
            </a:avLst>
          </a:prstGeom>
          <a:solidFill>
            <a:srgbClr val="CADCFC"/>
          </a:solidFill>
          <a:ln/>
        </p:spPr>
      </p:sp>
      <p:sp>
        <p:nvSpPr>
          <p:cNvPr id="6" name="Shape 4"/>
          <p:cNvSpPr/>
          <p:nvPr/>
        </p:nvSpPr>
        <p:spPr>
          <a:xfrm>
            <a:off x="10902391" y="649224"/>
            <a:ext cx="658368" cy="91440"/>
          </a:xfrm>
          <a:prstGeom prst="roundRect">
            <a:avLst>
              <a:gd name="adj" fmla="val 20000"/>
            </a:avLst>
          </a:prstGeom>
          <a:solidFill>
            <a:srgbClr val="1E2761"/>
          </a:solidFill>
          <a:ln/>
        </p:spPr>
      </p:sp>
      <p:sp>
        <p:nvSpPr>
          <p:cNvPr id="7" name="Shape 5"/>
          <p:cNvSpPr/>
          <p:nvPr/>
        </p:nvSpPr>
        <p:spPr>
          <a:xfrm>
            <a:off x="10984687" y="795528"/>
            <a:ext cx="493776" cy="91440"/>
          </a:xfrm>
          <a:prstGeom prst="roundRect">
            <a:avLst>
              <a:gd name="adj" fmla="val 20000"/>
            </a:avLst>
          </a:prstGeom>
          <a:solidFill>
            <a:srgbClr val="CADCFC"/>
          </a:solidFill>
          <a:ln/>
        </p:spPr>
      </p:sp>
      <p:sp>
        <p:nvSpPr>
          <p:cNvPr id="8" name="Shape 6"/>
          <p:cNvSpPr/>
          <p:nvPr/>
        </p:nvSpPr>
        <p:spPr>
          <a:xfrm>
            <a:off x="11066983" y="941832"/>
            <a:ext cx="329184" cy="91440"/>
          </a:xfrm>
          <a:prstGeom prst="roundRect">
            <a:avLst>
              <a:gd name="adj" fmla="val 20000"/>
            </a:avLst>
          </a:prstGeom>
          <a:solidFill>
            <a:srgbClr val="1E2761"/>
          </a:solidFill>
          <a:ln/>
        </p:spPr>
      </p:sp>
      <p:sp>
        <p:nvSpPr>
          <p:cNvPr id="9" name="Text 7"/>
          <p:cNvSpPr txBox="1"/>
          <p:nvPr/>
        </p:nvSpPr>
        <p:spPr>
          <a:xfrm>
            <a:off x="1600200" y="457200"/>
            <a:ext cx="7772400" cy="50292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Vector database</a:t>
            </a:r>
            <a:endParaRPr lang="en-US" sz="2800" dirty="0"/>
          </a:p>
        </p:txBody>
      </p:sp>
      <p:sp>
        <p:nvSpPr>
          <p:cNvPr id="10" name="Text 8"/>
          <p:cNvSpPr txBox="1"/>
          <p:nvPr/>
        </p:nvSpPr>
        <p:spPr>
          <a:xfrm>
            <a:off x="1600200" y="960120"/>
            <a:ext cx="7772400" cy="365760"/>
          </a:xfrm>
          <a:prstGeom prst="rect">
            <a:avLst/>
          </a:prstGeom>
          <a:noFill/>
          <a:ln/>
        </p:spPr>
        <p:txBody>
          <a:bodyPr wrap="square" lIns="0" tIns="0" rIns="0" bIns="0" rtlCol="0" anchor="ctr"/>
          <a:lstStyle/>
          <a:p>
            <a:pPr indent="0" marL="0">
              <a:buNone/>
            </a:pPr>
            <a:r>
              <a:rPr lang="en-US" sz="1700" i="1" dirty="0">
                <a:solidFill>
                  <a:srgbClr val="5A6B8C"/>
                </a:solidFill>
                <a:latin typeface="Calibri" pitchFamily="34" charset="0"/>
                <a:ea typeface="Calibri" pitchFamily="34" charset="-122"/>
                <a:cs typeface="Calibri" pitchFamily="34" charset="-120"/>
              </a:rPr>
              <a:t>Vektorová databáze</a:t>
            </a:r>
            <a:endParaRPr lang="en-US" sz="1700" dirty="0"/>
          </a:p>
        </p:txBody>
      </p:sp>
      <p:sp>
        <p:nvSpPr>
          <p:cNvPr id="11" name="Text 9"/>
          <p:cNvSpPr txBox="1"/>
          <p:nvPr/>
        </p:nvSpPr>
        <p:spPr>
          <a:xfrm>
            <a:off x="548640" y="1783080"/>
            <a:ext cx="5272888" cy="274320"/>
          </a:xfrm>
          <a:prstGeom prst="rect">
            <a:avLst/>
          </a:prstGeom>
          <a:noFill/>
          <a:ln/>
        </p:spPr>
        <p:txBody>
          <a:bodyPr wrap="square" lIns="0" tIns="0" rIns="0" bIns="0" rtlCol="0" anchor="ctr"/>
          <a:lstStyle/>
          <a:p>
            <a:pPr indent="0" marL="0">
              <a:buNone/>
            </a:pPr>
            <a:r>
              <a:rPr lang="en-US" sz="1100" b="1" spc="200" kern="0" dirty="0">
                <a:solidFill>
                  <a:srgbClr val="5A6B8C"/>
                </a:solidFill>
                <a:latin typeface="Calibri" pitchFamily="34" charset="0"/>
                <a:ea typeface="Calibri" pitchFamily="34" charset="-122"/>
                <a:cs typeface="Calibri" pitchFamily="34" charset="-120"/>
              </a:rPr>
              <a:t>ENGLISH</a:t>
            </a:r>
            <a:endParaRPr lang="en-US" sz="1100" dirty="0"/>
          </a:p>
        </p:txBody>
      </p:sp>
      <p:sp>
        <p:nvSpPr>
          <p:cNvPr id="12" name="Text 10"/>
          <p:cNvSpPr txBox="1"/>
          <p:nvPr/>
        </p:nvSpPr>
        <p:spPr>
          <a:xfrm>
            <a:off x="6370168" y="1783080"/>
            <a:ext cx="5272888"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ČESKY</a:t>
            </a:r>
            <a:endParaRPr lang="en-US" sz="1100" dirty="0"/>
          </a:p>
        </p:txBody>
      </p:sp>
      <p:sp>
        <p:nvSpPr>
          <p:cNvPr id="13" name="Text 11"/>
          <p:cNvSpPr txBox="1"/>
          <p:nvPr/>
        </p:nvSpPr>
        <p:spPr>
          <a:xfrm>
            <a:off x="548640" y="2103120"/>
            <a:ext cx="5272888" cy="3931920"/>
          </a:xfrm>
          <a:prstGeom prst="rect">
            <a:avLst/>
          </a:prstGeom>
          <a:noFill/>
          <a:ln/>
        </p:spPr>
        <p:txBody>
          <a:bodyPr wrap="square" lIns="0" tIns="0" rIns="0" bIns="0" rtlCol="0" anchor="t"/>
          <a:lstStyle/>
          <a:p>
            <a:pPr indent="0" marL="0">
              <a:lnSpc>
                <a:spcPct val="125000"/>
              </a:lnSpc>
              <a:buNone/>
            </a:pPr>
            <a:r>
              <a:rPr lang="en-US" sz="1450" dirty="0">
                <a:solidFill>
                  <a:srgbClr val="2B2B2B"/>
                </a:solidFill>
                <a:latin typeface="Calibri" pitchFamily="34" charset="0"/>
                <a:ea typeface="Calibri" pitchFamily="34" charset="-122"/>
                <a:cs typeface="Calibri" pitchFamily="34" charset="-120"/>
              </a:rPr>
              <a:t>Those vectors need a home that can search millions of them in milliseconds and return the closest matches.</a:t>
            </a:r>
            <a:endParaRPr lang="en-US" sz="1450" dirty="0"/>
          </a:p>
        </p:txBody>
      </p:sp>
      <p:sp>
        <p:nvSpPr>
          <p:cNvPr id="14" name="Text 12"/>
          <p:cNvSpPr txBox="1"/>
          <p:nvPr/>
        </p:nvSpPr>
        <p:spPr>
          <a:xfrm>
            <a:off x="6370168" y="2103120"/>
            <a:ext cx="5272888" cy="3931920"/>
          </a:xfrm>
          <a:prstGeom prst="rect">
            <a:avLst/>
          </a:prstGeom>
          <a:noFill/>
          <a:ln/>
        </p:spPr>
        <p:txBody>
          <a:bodyPr wrap="square" lIns="0" tIns="0" rIns="0" bIns="0" rtlCol="0" anchor="t"/>
          <a:lstStyle/>
          <a:p>
            <a:pPr indent="0" marL="0">
              <a:lnSpc>
                <a:spcPct val="125000"/>
              </a:lnSpc>
              <a:buNone/>
            </a:pPr>
            <a:r>
              <a:rPr lang="en-US" sz="1450" dirty="0">
                <a:solidFill>
                  <a:srgbClr val="2B2B2B"/>
                </a:solidFill>
                <a:latin typeface="Calibri" pitchFamily="34" charset="0"/>
                <a:ea typeface="Calibri" pitchFamily="34" charset="-122"/>
                <a:cs typeface="Calibri" pitchFamily="34" charset="-120"/>
              </a:rPr>
              <a:t>Tyto vektory potřebují domov, který dokáže prohledat miliony z nich během milisekund a vrátit ty nejbližší.</a:t>
            </a:r>
            <a:endParaRPr lang="en-US" sz="1450" dirty="0"/>
          </a:p>
        </p:txBody>
      </p:sp>
      <p:sp>
        <p:nvSpPr>
          <p:cNvPr id="15" name="Shape 13"/>
          <p:cNvSpPr/>
          <p:nvPr/>
        </p:nvSpPr>
        <p:spPr>
          <a:xfrm>
            <a:off x="9265615" y="5943600"/>
            <a:ext cx="2377440" cy="365760"/>
          </a:xfrm>
          <a:prstGeom prst="roundRect">
            <a:avLst>
              <a:gd name="adj" fmla="val 50000"/>
            </a:avLst>
          </a:prstGeom>
          <a:solidFill>
            <a:srgbClr val="CADCFC"/>
          </a:solidFill>
          <a:ln/>
        </p:spPr>
      </p:sp>
      <p:sp>
        <p:nvSpPr>
          <p:cNvPr id="16" name="Text 14"/>
          <p:cNvSpPr txBox="1"/>
          <p:nvPr/>
        </p:nvSpPr>
        <p:spPr>
          <a:xfrm>
            <a:off x="9265615" y="5943600"/>
            <a:ext cx="2377440" cy="365760"/>
          </a:xfrm>
          <a:prstGeom prst="rect">
            <a:avLst/>
          </a:prstGeom>
          <a:noFill/>
          <a:ln/>
        </p:spPr>
        <p:txBody>
          <a:bodyPr wrap="square" lIns="0" tIns="0" rIns="0" bIns="0" rtlCol="0" anchor="ctr"/>
          <a:lstStyle/>
          <a:p>
            <a:pPr algn="ctr" indent="0" marL="0">
              <a:buNone/>
            </a:pPr>
            <a:r>
              <a:rPr lang="en-US" sz="1100" b="1" spc="100" kern="0" dirty="0">
                <a:solidFill>
                  <a:srgbClr val="1E2761"/>
                </a:solidFill>
                <a:latin typeface="Calibri" pitchFamily="34" charset="0"/>
                <a:ea typeface="Calibri" pitchFamily="34" charset="-122"/>
                <a:cs typeface="Calibri" pitchFamily="34" charset="-120"/>
              </a:rPr>
              <a:t>WEEKEND DEMO</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141568" y="1645920"/>
            <a:ext cx="5730088" cy="4480560"/>
          </a:xfrm>
          <a:prstGeom prst="roundRect">
            <a:avLst>
              <a:gd name="adj" fmla="val 1633"/>
            </a:avLst>
          </a:prstGeom>
          <a:solidFill>
            <a:srgbClr val="F0F4FC"/>
          </a:solidFill>
          <a:ln/>
        </p:spPr>
      </p:sp>
      <p:sp>
        <p:nvSpPr>
          <p:cNvPr id="3" name="Shape 1"/>
          <p:cNvSpPr/>
          <p:nvPr/>
        </p:nvSpPr>
        <p:spPr>
          <a:xfrm>
            <a:off x="548640" y="502920"/>
            <a:ext cx="822960" cy="822960"/>
          </a:xfrm>
          <a:prstGeom prst="ellipse">
            <a:avLst/>
          </a:prstGeom>
          <a:solidFill>
            <a:srgbClr val="1E2761"/>
          </a:solidFill>
          <a:ln/>
        </p:spPr>
      </p:sp>
      <p:sp>
        <p:nvSpPr>
          <p:cNvPr id="4" name="Text 2"/>
          <p:cNvSpPr txBox="1"/>
          <p:nvPr/>
        </p:nvSpPr>
        <p:spPr>
          <a:xfrm>
            <a:off x="5486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5" name="Shape 3"/>
          <p:cNvSpPr/>
          <p:nvPr/>
        </p:nvSpPr>
        <p:spPr>
          <a:xfrm>
            <a:off x="10820095" y="502920"/>
            <a:ext cx="822960" cy="91440"/>
          </a:xfrm>
          <a:prstGeom prst="roundRect">
            <a:avLst>
              <a:gd name="adj" fmla="val 20000"/>
            </a:avLst>
          </a:prstGeom>
          <a:solidFill>
            <a:srgbClr val="CADCFC"/>
          </a:solidFill>
          <a:ln/>
        </p:spPr>
      </p:sp>
      <p:sp>
        <p:nvSpPr>
          <p:cNvPr id="6" name="Shape 4"/>
          <p:cNvSpPr/>
          <p:nvPr/>
        </p:nvSpPr>
        <p:spPr>
          <a:xfrm>
            <a:off x="10902391" y="649224"/>
            <a:ext cx="658368" cy="91440"/>
          </a:xfrm>
          <a:prstGeom prst="roundRect">
            <a:avLst>
              <a:gd name="adj" fmla="val 20000"/>
            </a:avLst>
          </a:prstGeom>
          <a:solidFill>
            <a:srgbClr val="1E2761"/>
          </a:solidFill>
          <a:ln/>
        </p:spPr>
      </p:sp>
      <p:sp>
        <p:nvSpPr>
          <p:cNvPr id="7" name="Shape 5"/>
          <p:cNvSpPr/>
          <p:nvPr/>
        </p:nvSpPr>
        <p:spPr>
          <a:xfrm>
            <a:off x="10984687" y="795528"/>
            <a:ext cx="493776" cy="91440"/>
          </a:xfrm>
          <a:prstGeom prst="roundRect">
            <a:avLst>
              <a:gd name="adj" fmla="val 20000"/>
            </a:avLst>
          </a:prstGeom>
          <a:solidFill>
            <a:srgbClr val="CADCFC"/>
          </a:solidFill>
          <a:ln/>
        </p:spPr>
      </p:sp>
      <p:sp>
        <p:nvSpPr>
          <p:cNvPr id="8" name="Shape 6"/>
          <p:cNvSpPr/>
          <p:nvPr/>
        </p:nvSpPr>
        <p:spPr>
          <a:xfrm>
            <a:off x="11066983" y="941832"/>
            <a:ext cx="329184" cy="91440"/>
          </a:xfrm>
          <a:prstGeom prst="roundRect">
            <a:avLst>
              <a:gd name="adj" fmla="val 20000"/>
            </a:avLst>
          </a:prstGeom>
          <a:solidFill>
            <a:srgbClr val="1E2761"/>
          </a:solidFill>
          <a:ln/>
        </p:spPr>
      </p:sp>
      <p:sp>
        <p:nvSpPr>
          <p:cNvPr id="9" name="Text 7"/>
          <p:cNvSpPr txBox="1"/>
          <p:nvPr/>
        </p:nvSpPr>
        <p:spPr>
          <a:xfrm>
            <a:off x="1600200" y="457200"/>
            <a:ext cx="7772400" cy="50292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RAG</a:t>
            </a:r>
            <a:endParaRPr lang="en-US" sz="2800" dirty="0"/>
          </a:p>
        </p:txBody>
      </p:sp>
      <p:sp>
        <p:nvSpPr>
          <p:cNvPr id="10" name="Text 8"/>
          <p:cNvSpPr txBox="1"/>
          <p:nvPr/>
        </p:nvSpPr>
        <p:spPr>
          <a:xfrm>
            <a:off x="1600200" y="960120"/>
            <a:ext cx="7772400" cy="365760"/>
          </a:xfrm>
          <a:prstGeom prst="rect">
            <a:avLst/>
          </a:prstGeom>
          <a:noFill/>
          <a:ln/>
        </p:spPr>
        <p:txBody>
          <a:bodyPr wrap="square" lIns="0" tIns="0" rIns="0" bIns="0" rtlCol="0" anchor="ctr"/>
          <a:lstStyle/>
          <a:p>
            <a:pPr indent="0" marL="0">
              <a:buNone/>
            </a:pPr>
            <a:r>
              <a:rPr lang="en-US" sz="1700" i="1" dirty="0">
                <a:solidFill>
                  <a:srgbClr val="5A6B8C"/>
                </a:solidFill>
                <a:latin typeface="Calibri" pitchFamily="34" charset="0"/>
                <a:ea typeface="Calibri" pitchFamily="34" charset="-122"/>
                <a:cs typeface="Calibri" pitchFamily="34" charset="-120"/>
              </a:rPr>
              <a:t>RAG</a:t>
            </a:r>
            <a:endParaRPr lang="en-US" sz="1700" dirty="0"/>
          </a:p>
        </p:txBody>
      </p:sp>
      <p:sp>
        <p:nvSpPr>
          <p:cNvPr id="11" name="Text 9"/>
          <p:cNvSpPr txBox="1"/>
          <p:nvPr/>
        </p:nvSpPr>
        <p:spPr>
          <a:xfrm>
            <a:off x="548640" y="1783080"/>
            <a:ext cx="5272888" cy="274320"/>
          </a:xfrm>
          <a:prstGeom prst="rect">
            <a:avLst/>
          </a:prstGeom>
          <a:noFill/>
          <a:ln/>
        </p:spPr>
        <p:txBody>
          <a:bodyPr wrap="square" lIns="0" tIns="0" rIns="0" bIns="0" rtlCol="0" anchor="ctr"/>
          <a:lstStyle/>
          <a:p>
            <a:pPr indent="0" marL="0">
              <a:buNone/>
            </a:pPr>
            <a:r>
              <a:rPr lang="en-US" sz="1100" b="1" spc="200" kern="0" dirty="0">
                <a:solidFill>
                  <a:srgbClr val="5A6B8C"/>
                </a:solidFill>
                <a:latin typeface="Calibri" pitchFamily="34" charset="0"/>
                <a:ea typeface="Calibri" pitchFamily="34" charset="-122"/>
                <a:cs typeface="Calibri" pitchFamily="34" charset="-120"/>
              </a:rPr>
              <a:t>ENGLISH</a:t>
            </a:r>
            <a:endParaRPr lang="en-US" sz="1100" dirty="0"/>
          </a:p>
        </p:txBody>
      </p:sp>
      <p:sp>
        <p:nvSpPr>
          <p:cNvPr id="12" name="Text 10"/>
          <p:cNvSpPr txBox="1"/>
          <p:nvPr/>
        </p:nvSpPr>
        <p:spPr>
          <a:xfrm>
            <a:off x="6370168" y="1783080"/>
            <a:ext cx="5272888"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ČESKY</a:t>
            </a:r>
            <a:endParaRPr lang="en-US" sz="1100" dirty="0"/>
          </a:p>
        </p:txBody>
      </p:sp>
      <p:sp>
        <p:nvSpPr>
          <p:cNvPr id="13" name="Text 11"/>
          <p:cNvSpPr txBox="1"/>
          <p:nvPr/>
        </p:nvSpPr>
        <p:spPr>
          <a:xfrm>
            <a:off x="548640" y="2103120"/>
            <a:ext cx="5272888" cy="3931920"/>
          </a:xfrm>
          <a:prstGeom prst="rect">
            <a:avLst/>
          </a:prstGeom>
          <a:noFill/>
          <a:ln/>
        </p:spPr>
        <p:txBody>
          <a:bodyPr wrap="square" lIns="0" tIns="0" rIns="0" bIns="0" rtlCol="0" anchor="t"/>
          <a:lstStyle/>
          <a:p>
            <a:pPr indent="0" marL="0">
              <a:lnSpc>
                <a:spcPct val="125000"/>
              </a:lnSpc>
              <a:buNone/>
            </a:pPr>
            <a:r>
              <a:rPr lang="en-US" sz="1450" dirty="0">
                <a:solidFill>
                  <a:srgbClr val="2B2B2B"/>
                </a:solidFill>
                <a:latin typeface="Calibri" pitchFamily="34" charset="0"/>
                <a:ea typeface="Calibri" pitchFamily="34" charset="-122"/>
                <a:cs typeface="Calibri" pitchFamily="34" charset="-120"/>
              </a:rPr>
              <a:t>Retrieval-Augmented Generation: the pipeline that ties layers 1 and 2 to the model. It pulls the few most relevant chunks and hands them to the LLM as context, so the answer comes from your refund policy — not from the model's memory of the internet.</a:t>
            </a:r>
            <a:endParaRPr lang="en-US" sz="1450" dirty="0"/>
          </a:p>
        </p:txBody>
      </p:sp>
      <p:sp>
        <p:nvSpPr>
          <p:cNvPr id="14" name="Text 12"/>
          <p:cNvSpPr txBox="1"/>
          <p:nvPr/>
        </p:nvSpPr>
        <p:spPr>
          <a:xfrm>
            <a:off x="6370168" y="2103120"/>
            <a:ext cx="5272888" cy="3931920"/>
          </a:xfrm>
          <a:prstGeom prst="rect">
            <a:avLst/>
          </a:prstGeom>
          <a:noFill/>
          <a:ln/>
        </p:spPr>
        <p:txBody>
          <a:bodyPr wrap="square" lIns="0" tIns="0" rIns="0" bIns="0" rtlCol="0" anchor="t"/>
          <a:lstStyle/>
          <a:p>
            <a:pPr indent="0" marL="0">
              <a:lnSpc>
                <a:spcPct val="125000"/>
              </a:lnSpc>
              <a:buNone/>
            </a:pPr>
            <a:r>
              <a:rPr lang="en-US" sz="1450" dirty="0">
                <a:solidFill>
                  <a:srgbClr val="2B2B2B"/>
                </a:solidFill>
                <a:latin typeface="Calibri" pitchFamily="34" charset="0"/>
                <a:ea typeface="Calibri" pitchFamily="34" charset="-122"/>
                <a:cs typeface="Calibri" pitchFamily="34" charset="-120"/>
              </a:rPr>
              <a:t>Retrieval-Augmented Generation: pipeline, která propojuje vrstvy 1 a 2 s modelem. Vytáhne pár nejrelevantnějších úseků a předá je LLM jako kontext, takže odpověď vychází z vaší reklamační politiky – ne z toho, co si model „pamatuje“ z internetu.</a:t>
            </a:r>
            <a:endParaRPr lang="en-US" sz="1450" dirty="0"/>
          </a:p>
        </p:txBody>
      </p:sp>
      <p:sp>
        <p:nvSpPr>
          <p:cNvPr id="15" name="Shape 13"/>
          <p:cNvSpPr/>
          <p:nvPr/>
        </p:nvSpPr>
        <p:spPr>
          <a:xfrm>
            <a:off x="9265615" y="5943600"/>
            <a:ext cx="2377440" cy="365760"/>
          </a:xfrm>
          <a:prstGeom prst="roundRect">
            <a:avLst>
              <a:gd name="adj" fmla="val 50000"/>
            </a:avLst>
          </a:prstGeom>
          <a:solidFill>
            <a:srgbClr val="CADCFC"/>
          </a:solidFill>
          <a:ln/>
        </p:spPr>
      </p:sp>
      <p:sp>
        <p:nvSpPr>
          <p:cNvPr id="16" name="Text 14"/>
          <p:cNvSpPr txBox="1"/>
          <p:nvPr/>
        </p:nvSpPr>
        <p:spPr>
          <a:xfrm>
            <a:off x="9265615" y="5943600"/>
            <a:ext cx="2377440" cy="365760"/>
          </a:xfrm>
          <a:prstGeom prst="rect">
            <a:avLst/>
          </a:prstGeom>
          <a:noFill/>
          <a:ln/>
        </p:spPr>
        <p:txBody>
          <a:bodyPr wrap="square" lIns="0" tIns="0" rIns="0" bIns="0" rtlCol="0" anchor="ctr"/>
          <a:lstStyle/>
          <a:p>
            <a:pPr algn="ctr" indent="0" marL="0">
              <a:buNone/>
            </a:pPr>
            <a:r>
              <a:rPr lang="en-US" sz="1100" b="1" spc="100" kern="0" dirty="0">
                <a:solidFill>
                  <a:srgbClr val="1E2761"/>
                </a:solidFill>
                <a:latin typeface="Calibri" pitchFamily="34" charset="0"/>
                <a:ea typeface="Calibri" pitchFamily="34" charset="-122"/>
                <a:cs typeface="Calibri" pitchFamily="34" charset="-120"/>
              </a:rPr>
              <a:t>WEEKEND DEMO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141568" y="1645920"/>
            <a:ext cx="5730088" cy="4480560"/>
          </a:xfrm>
          <a:prstGeom prst="roundRect">
            <a:avLst>
              <a:gd name="adj" fmla="val 1633"/>
            </a:avLst>
          </a:prstGeom>
          <a:solidFill>
            <a:srgbClr val="F0F4FC"/>
          </a:solidFill>
          <a:ln/>
        </p:spPr>
      </p:sp>
      <p:sp>
        <p:nvSpPr>
          <p:cNvPr id="3" name="Shape 1"/>
          <p:cNvSpPr/>
          <p:nvPr/>
        </p:nvSpPr>
        <p:spPr>
          <a:xfrm>
            <a:off x="548640" y="502920"/>
            <a:ext cx="822960" cy="822960"/>
          </a:xfrm>
          <a:prstGeom prst="ellipse">
            <a:avLst/>
          </a:prstGeom>
          <a:solidFill>
            <a:srgbClr val="1E2761"/>
          </a:solidFill>
          <a:ln/>
        </p:spPr>
      </p:sp>
      <p:sp>
        <p:nvSpPr>
          <p:cNvPr id="4" name="Text 2"/>
          <p:cNvSpPr txBox="1"/>
          <p:nvPr/>
        </p:nvSpPr>
        <p:spPr>
          <a:xfrm>
            <a:off x="5486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4</a:t>
            </a:r>
            <a:endParaRPr lang="en-US" sz="2600" dirty="0"/>
          </a:p>
        </p:txBody>
      </p:sp>
      <p:sp>
        <p:nvSpPr>
          <p:cNvPr id="5" name="Shape 3"/>
          <p:cNvSpPr/>
          <p:nvPr/>
        </p:nvSpPr>
        <p:spPr>
          <a:xfrm>
            <a:off x="10820095" y="502920"/>
            <a:ext cx="822960" cy="91440"/>
          </a:xfrm>
          <a:prstGeom prst="roundRect">
            <a:avLst>
              <a:gd name="adj" fmla="val 20000"/>
            </a:avLst>
          </a:prstGeom>
          <a:solidFill>
            <a:srgbClr val="CADCFC"/>
          </a:solidFill>
          <a:ln/>
        </p:spPr>
      </p:sp>
      <p:sp>
        <p:nvSpPr>
          <p:cNvPr id="6" name="Shape 4"/>
          <p:cNvSpPr/>
          <p:nvPr/>
        </p:nvSpPr>
        <p:spPr>
          <a:xfrm>
            <a:off x="10902391" y="649224"/>
            <a:ext cx="658368" cy="91440"/>
          </a:xfrm>
          <a:prstGeom prst="roundRect">
            <a:avLst>
              <a:gd name="adj" fmla="val 20000"/>
            </a:avLst>
          </a:prstGeom>
          <a:solidFill>
            <a:srgbClr val="1E2761"/>
          </a:solidFill>
          <a:ln/>
        </p:spPr>
      </p:sp>
      <p:sp>
        <p:nvSpPr>
          <p:cNvPr id="7" name="Shape 5"/>
          <p:cNvSpPr/>
          <p:nvPr/>
        </p:nvSpPr>
        <p:spPr>
          <a:xfrm>
            <a:off x="10984687" y="795528"/>
            <a:ext cx="493776" cy="91440"/>
          </a:xfrm>
          <a:prstGeom prst="roundRect">
            <a:avLst>
              <a:gd name="adj" fmla="val 20000"/>
            </a:avLst>
          </a:prstGeom>
          <a:solidFill>
            <a:srgbClr val="CADCFC"/>
          </a:solidFill>
          <a:ln/>
        </p:spPr>
      </p:sp>
      <p:sp>
        <p:nvSpPr>
          <p:cNvPr id="8" name="Shape 6"/>
          <p:cNvSpPr/>
          <p:nvPr/>
        </p:nvSpPr>
        <p:spPr>
          <a:xfrm>
            <a:off x="11066983" y="941832"/>
            <a:ext cx="329184" cy="91440"/>
          </a:xfrm>
          <a:prstGeom prst="roundRect">
            <a:avLst>
              <a:gd name="adj" fmla="val 20000"/>
            </a:avLst>
          </a:prstGeom>
          <a:solidFill>
            <a:srgbClr val="1E2761"/>
          </a:solidFill>
          <a:ln/>
        </p:spPr>
      </p:sp>
      <p:sp>
        <p:nvSpPr>
          <p:cNvPr id="9" name="Text 7"/>
          <p:cNvSpPr txBox="1"/>
          <p:nvPr/>
        </p:nvSpPr>
        <p:spPr>
          <a:xfrm>
            <a:off x="1600200" y="457200"/>
            <a:ext cx="7772400" cy="50292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LLM</a:t>
            </a:r>
            <a:endParaRPr lang="en-US" sz="2800" dirty="0"/>
          </a:p>
        </p:txBody>
      </p:sp>
      <p:sp>
        <p:nvSpPr>
          <p:cNvPr id="10" name="Text 8"/>
          <p:cNvSpPr txBox="1"/>
          <p:nvPr/>
        </p:nvSpPr>
        <p:spPr>
          <a:xfrm>
            <a:off x="1600200" y="960120"/>
            <a:ext cx="7772400" cy="365760"/>
          </a:xfrm>
          <a:prstGeom prst="rect">
            <a:avLst/>
          </a:prstGeom>
          <a:noFill/>
          <a:ln/>
        </p:spPr>
        <p:txBody>
          <a:bodyPr wrap="square" lIns="0" tIns="0" rIns="0" bIns="0" rtlCol="0" anchor="ctr"/>
          <a:lstStyle/>
          <a:p>
            <a:pPr indent="0" marL="0">
              <a:buNone/>
            </a:pPr>
            <a:r>
              <a:rPr lang="en-US" sz="1700" i="1" dirty="0">
                <a:solidFill>
                  <a:srgbClr val="5A6B8C"/>
                </a:solidFill>
                <a:latin typeface="Calibri" pitchFamily="34" charset="0"/>
                <a:ea typeface="Calibri" pitchFamily="34" charset="-122"/>
                <a:cs typeface="Calibri" pitchFamily="34" charset="-120"/>
              </a:rPr>
              <a:t>LLM (jazykový model)</a:t>
            </a:r>
            <a:endParaRPr lang="en-US" sz="1700" dirty="0"/>
          </a:p>
        </p:txBody>
      </p:sp>
      <p:sp>
        <p:nvSpPr>
          <p:cNvPr id="11" name="Text 9"/>
          <p:cNvSpPr txBox="1"/>
          <p:nvPr/>
        </p:nvSpPr>
        <p:spPr>
          <a:xfrm>
            <a:off x="548640" y="1783080"/>
            <a:ext cx="5272888" cy="274320"/>
          </a:xfrm>
          <a:prstGeom prst="rect">
            <a:avLst/>
          </a:prstGeom>
          <a:noFill/>
          <a:ln/>
        </p:spPr>
        <p:txBody>
          <a:bodyPr wrap="square" lIns="0" tIns="0" rIns="0" bIns="0" rtlCol="0" anchor="ctr"/>
          <a:lstStyle/>
          <a:p>
            <a:pPr indent="0" marL="0">
              <a:buNone/>
            </a:pPr>
            <a:r>
              <a:rPr lang="en-US" sz="1100" b="1" spc="200" kern="0" dirty="0">
                <a:solidFill>
                  <a:srgbClr val="5A6B8C"/>
                </a:solidFill>
                <a:latin typeface="Calibri" pitchFamily="34" charset="0"/>
                <a:ea typeface="Calibri" pitchFamily="34" charset="-122"/>
                <a:cs typeface="Calibri" pitchFamily="34" charset="-120"/>
              </a:rPr>
              <a:t>ENGLISH</a:t>
            </a:r>
            <a:endParaRPr lang="en-US" sz="1100" dirty="0"/>
          </a:p>
        </p:txBody>
      </p:sp>
      <p:sp>
        <p:nvSpPr>
          <p:cNvPr id="12" name="Text 10"/>
          <p:cNvSpPr txBox="1"/>
          <p:nvPr/>
        </p:nvSpPr>
        <p:spPr>
          <a:xfrm>
            <a:off x="6370168" y="1783080"/>
            <a:ext cx="5272888"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ČESKY</a:t>
            </a:r>
            <a:endParaRPr lang="en-US" sz="1100" dirty="0"/>
          </a:p>
        </p:txBody>
      </p:sp>
      <p:sp>
        <p:nvSpPr>
          <p:cNvPr id="13" name="Text 11"/>
          <p:cNvSpPr txBox="1"/>
          <p:nvPr/>
        </p:nvSpPr>
        <p:spPr>
          <a:xfrm>
            <a:off x="548640" y="2103120"/>
            <a:ext cx="5272888" cy="3931920"/>
          </a:xfrm>
          <a:prstGeom prst="rect">
            <a:avLst/>
          </a:prstGeom>
          <a:noFill/>
          <a:ln/>
        </p:spPr>
        <p:txBody>
          <a:bodyPr wrap="square" lIns="0" tIns="0" rIns="0" bIns="0" rtlCol="0" anchor="t"/>
          <a:lstStyle/>
          <a:p>
            <a:pPr indent="0" marL="0">
              <a:lnSpc>
                <a:spcPct val="125000"/>
              </a:lnSpc>
              <a:buNone/>
            </a:pPr>
            <a:r>
              <a:rPr lang="en-US" sz="1450" dirty="0">
                <a:solidFill>
                  <a:srgbClr val="2B2B2B"/>
                </a:solidFill>
                <a:latin typeface="Calibri" pitchFamily="34" charset="0"/>
                <a:ea typeface="Calibri" pitchFamily="34" charset="-122"/>
                <a:cs typeface="Calibri" pitchFamily="34" charset="-120"/>
              </a:rPr>
              <a:t>Large language model: now the brain. It reads what was retrieved and writes the answer. This is the piece everyone starts with — and honestly the easiest one to swap later.</a:t>
            </a:r>
            <a:endParaRPr lang="en-US" sz="1450" dirty="0"/>
          </a:p>
        </p:txBody>
      </p:sp>
      <p:sp>
        <p:nvSpPr>
          <p:cNvPr id="14" name="Text 12"/>
          <p:cNvSpPr txBox="1"/>
          <p:nvPr/>
        </p:nvSpPr>
        <p:spPr>
          <a:xfrm>
            <a:off x="6370168" y="2103120"/>
            <a:ext cx="5272888" cy="3931920"/>
          </a:xfrm>
          <a:prstGeom prst="rect">
            <a:avLst/>
          </a:prstGeom>
          <a:noFill/>
          <a:ln/>
        </p:spPr>
        <p:txBody>
          <a:bodyPr wrap="square" lIns="0" tIns="0" rIns="0" bIns="0" rtlCol="0" anchor="t"/>
          <a:lstStyle/>
          <a:p>
            <a:pPr indent="0" marL="0">
              <a:lnSpc>
                <a:spcPct val="125000"/>
              </a:lnSpc>
              <a:buNone/>
            </a:pPr>
            <a:r>
              <a:rPr lang="en-US" sz="1450" dirty="0">
                <a:solidFill>
                  <a:srgbClr val="2B2B2B"/>
                </a:solidFill>
                <a:latin typeface="Calibri" pitchFamily="34" charset="0"/>
                <a:ea typeface="Calibri" pitchFamily="34" charset="-122"/>
                <a:cs typeface="Calibri" pitchFamily="34" charset="-120"/>
              </a:rPr>
              <a:t>Velký jazykový model: teď přichází mozek. Přečte, co bylo nalezeno, a napíše odpověď. Tohle je díl, u kterého každý začíná – a upřímně i ten, který se později nejsnáz vymění.</a:t>
            </a:r>
            <a:endParaRPr lang="en-US" sz="1450" dirty="0"/>
          </a:p>
        </p:txBody>
      </p:sp>
      <p:sp>
        <p:nvSpPr>
          <p:cNvPr id="15" name="Shape 13"/>
          <p:cNvSpPr/>
          <p:nvPr/>
        </p:nvSpPr>
        <p:spPr>
          <a:xfrm>
            <a:off x="9265615" y="5943600"/>
            <a:ext cx="2377440" cy="365760"/>
          </a:xfrm>
          <a:prstGeom prst="roundRect">
            <a:avLst>
              <a:gd name="adj" fmla="val 50000"/>
            </a:avLst>
          </a:prstGeom>
          <a:solidFill>
            <a:srgbClr val="CADCFC"/>
          </a:solidFill>
          <a:ln/>
        </p:spPr>
      </p:sp>
      <p:sp>
        <p:nvSpPr>
          <p:cNvPr id="16" name="Text 14"/>
          <p:cNvSpPr txBox="1"/>
          <p:nvPr/>
        </p:nvSpPr>
        <p:spPr>
          <a:xfrm>
            <a:off x="9265615" y="5943600"/>
            <a:ext cx="2377440" cy="365760"/>
          </a:xfrm>
          <a:prstGeom prst="rect">
            <a:avLst/>
          </a:prstGeom>
          <a:noFill/>
          <a:ln/>
        </p:spPr>
        <p:txBody>
          <a:bodyPr wrap="square" lIns="0" tIns="0" rIns="0" bIns="0" rtlCol="0" anchor="ctr"/>
          <a:lstStyle/>
          <a:p>
            <a:pPr algn="ctr" indent="0" marL="0">
              <a:buNone/>
            </a:pPr>
            <a:r>
              <a:rPr lang="en-US" sz="1100" b="1" spc="100" kern="0" dirty="0">
                <a:solidFill>
                  <a:srgbClr val="1E2761"/>
                </a:solidFill>
                <a:latin typeface="Calibri" pitchFamily="34" charset="0"/>
                <a:ea typeface="Calibri" pitchFamily="34" charset="-122"/>
                <a:cs typeface="Calibri" pitchFamily="34" charset="-120"/>
              </a:rPr>
              <a:t>WEEKEND DEMO</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141568" y="1645920"/>
            <a:ext cx="5730088" cy="4480560"/>
          </a:xfrm>
          <a:prstGeom prst="roundRect">
            <a:avLst>
              <a:gd name="adj" fmla="val 1633"/>
            </a:avLst>
          </a:prstGeom>
          <a:solidFill>
            <a:srgbClr val="F0F4FC"/>
          </a:solidFill>
          <a:ln/>
        </p:spPr>
      </p:sp>
      <p:sp>
        <p:nvSpPr>
          <p:cNvPr id="3" name="Shape 1"/>
          <p:cNvSpPr/>
          <p:nvPr/>
        </p:nvSpPr>
        <p:spPr>
          <a:xfrm>
            <a:off x="548640" y="502920"/>
            <a:ext cx="822960" cy="822960"/>
          </a:xfrm>
          <a:prstGeom prst="ellipse">
            <a:avLst/>
          </a:prstGeom>
          <a:solidFill>
            <a:srgbClr val="1E2761"/>
          </a:solidFill>
          <a:ln/>
        </p:spPr>
      </p:sp>
      <p:sp>
        <p:nvSpPr>
          <p:cNvPr id="4" name="Text 2"/>
          <p:cNvSpPr txBox="1"/>
          <p:nvPr/>
        </p:nvSpPr>
        <p:spPr>
          <a:xfrm>
            <a:off x="5486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5</a:t>
            </a:r>
            <a:endParaRPr lang="en-US" sz="2600" dirty="0"/>
          </a:p>
        </p:txBody>
      </p:sp>
      <p:sp>
        <p:nvSpPr>
          <p:cNvPr id="5" name="Shape 3"/>
          <p:cNvSpPr/>
          <p:nvPr/>
        </p:nvSpPr>
        <p:spPr>
          <a:xfrm>
            <a:off x="10820095" y="502920"/>
            <a:ext cx="822960" cy="91440"/>
          </a:xfrm>
          <a:prstGeom prst="roundRect">
            <a:avLst>
              <a:gd name="adj" fmla="val 20000"/>
            </a:avLst>
          </a:prstGeom>
          <a:solidFill>
            <a:srgbClr val="CADCFC"/>
          </a:solidFill>
          <a:ln/>
        </p:spPr>
      </p:sp>
      <p:sp>
        <p:nvSpPr>
          <p:cNvPr id="6" name="Shape 4"/>
          <p:cNvSpPr/>
          <p:nvPr/>
        </p:nvSpPr>
        <p:spPr>
          <a:xfrm>
            <a:off x="10902391" y="649224"/>
            <a:ext cx="658368" cy="91440"/>
          </a:xfrm>
          <a:prstGeom prst="roundRect">
            <a:avLst>
              <a:gd name="adj" fmla="val 20000"/>
            </a:avLst>
          </a:prstGeom>
          <a:solidFill>
            <a:srgbClr val="1E2761"/>
          </a:solidFill>
          <a:ln/>
        </p:spPr>
      </p:sp>
      <p:sp>
        <p:nvSpPr>
          <p:cNvPr id="7" name="Shape 5"/>
          <p:cNvSpPr/>
          <p:nvPr/>
        </p:nvSpPr>
        <p:spPr>
          <a:xfrm>
            <a:off x="10984687" y="795528"/>
            <a:ext cx="493776" cy="91440"/>
          </a:xfrm>
          <a:prstGeom prst="roundRect">
            <a:avLst>
              <a:gd name="adj" fmla="val 20000"/>
            </a:avLst>
          </a:prstGeom>
          <a:solidFill>
            <a:srgbClr val="CADCFC"/>
          </a:solidFill>
          <a:ln/>
        </p:spPr>
      </p:sp>
      <p:sp>
        <p:nvSpPr>
          <p:cNvPr id="8" name="Shape 6"/>
          <p:cNvSpPr/>
          <p:nvPr/>
        </p:nvSpPr>
        <p:spPr>
          <a:xfrm>
            <a:off x="11066983" y="941832"/>
            <a:ext cx="329184" cy="91440"/>
          </a:xfrm>
          <a:prstGeom prst="roundRect">
            <a:avLst>
              <a:gd name="adj" fmla="val 20000"/>
            </a:avLst>
          </a:prstGeom>
          <a:solidFill>
            <a:srgbClr val="1E2761"/>
          </a:solidFill>
          <a:ln/>
        </p:spPr>
      </p:sp>
      <p:sp>
        <p:nvSpPr>
          <p:cNvPr id="9" name="Text 7"/>
          <p:cNvSpPr txBox="1"/>
          <p:nvPr/>
        </p:nvSpPr>
        <p:spPr>
          <a:xfrm>
            <a:off x="1600200" y="457200"/>
            <a:ext cx="7772400" cy="50292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Tool calling &amp; MCP</a:t>
            </a:r>
            <a:endParaRPr lang="en-US" sz="2800" dirty="0"/>
          </a:p>
        </p:txBody>
      </p:sp>
      <p:sp>
        <p:nvSpPr>
          <p:cNvPr id="10" name="Text 8"/>
          <p:cNvSpPr txBox="1"/>
          <p:nvPr/>
        </p:nvSpPr>
        <p:spPr>
          <a:xfrm>
            <a:off x="1600200" y="960120"/>
            <a:ext cx="7772400" cy="365760"/>
          </a:xfrm>
          <a:prstGeom prst="rect">
            <a:avLst/>
          </a:prstGeom>
          <a:noFill/>
          <a:ln/>
        </p:spPr>
        <p:txBody>
          <a:bodyPr wrap="square" lIns="0" tIns="0" rIns="0" bIns="0" rtlCol="0" anchor="ctr"/>
          <a:lstStyle/>
          <a:p>
            <a:pPr indent="0" marL="0">
              <a:buNone/>
            </a:pPr>
            <a:r>
              <a:rPr lang="en-US" sz="1700" i="1" dirty="0">
                <a:solidFill>
                  <a:srgbClr val="5A6B8C"/>
                </a:solidFill>
                <a:latin typeface="Calibri" pitchFamily="34" charset="0"/>
                <a:ea typeface="Calibri" pitchFamily="34" charset="-122"/>
                <a:cs typeface="Calibri" pitchFamily="34" charset="-120"/>
              </a:rPr>
              <a:t>Tool calling a MCP</a:t>
            </a:r>
            <a:endParaRPr lang="en-US" sz="1700" dirty="0"/>
          </a:p>
        </p:txBody>
      </p:sp>
      <p:sp>
        <p:nvSpPr>
          <p:cNvPr id="11" name="Text 9"/>
          <p:cNvSpPr txBox="1"/>
          <p:nvPr/>
        </p:nvSpPr>
        <p:spPr>
          <a:xfrm>
            <a:off x="548640" y="1783080"/>
            <a:ext cx="5272888" cy="274320"/>
          </a:xfrm>
          <a:prstGeom prst="rect">
            <a:avLst/>
          </a:prstGeom>
          <a:noFill/>
          <a:ln/>
        </p:spPr>
        <p:txBody>
          <a:bodyPr wrap="square" lIns="0" tIns="0" rIns="0" bIns="0" rtlCol="0" anchor="ctr"/>
          <a:lstStyle/>
          <a:p>
            <a:pPr indent="0" marL="0">
              <a:buNone/>
            </a:pPr>
            <a:r>
              <a:rPr lang="en-US" sz="1100" b="1" spc="200" kern="0" dirty="0">
                <a:solidFill>
                  <a:srgbClr val="5A6B8C"/>
                </a:solidFill>
                <a:latin typeface="Calibri" pitchFamily="34" charset="0"/>
                <a:ea typeface="Calibri" pitchFamily="34" charset="-122"/>
                <a:cs typeface="Calibri" pitchFamily="34" charset="-120"/>
              </a:rPr>
              <a:t>ENGLISH</a:t>
            </a:r>
            <a:endParaRPr lang="en-US" sz="1100" dirty="0"/>
          </a:p>
        </p:txBody>
      </p:sp>
      <p:sp>
        <p:nvSpPr>
          <p:cNvPr id="12" name="Text 10"/>
          <p:cNvSpPr txBox="1"/>
          <p:nvPr/>
        </p:nvSpPr>
        <p:spPr>
          <a:xfrm>
            <a:off x="6370168" y="1783080"/>
            <a:ext cx="5272888"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ČESKY</a:t>
            </a:r>
            <a:endParaRPr lang="en-US" sz="1100" dirty="0"/>
          </a:p>
        </p:txBody>
      </p:sp>
      <p:sp>
        <p:nvSpPr>
          <p:cNvPr id="13" name="Text 11"/>
          <p:cNvSpPr txBox="1"/>
          <p:nvPr/>
        </p:nvSpPr>
        <p:spPr>
          <a:xfrm>
            <a:off x="548640" y="2103120"/>
            <a:ext cx="5272888" cy="3931920"/>
          </a:xfrm>
          <a:prstGeom prst="rect">
            <a:avLst/>
          </a:prstGeom>
          <a:noFill/>
          <a:ln/>
        </p:spPr>
        <p:txBody>
          <a:bodyPr wrap="square" lIns="0" tIns="0" rIns="0" bIns="0" rtlCol="0" anchor="t"/>
          <a:lstStyle/>
          <a:p>
            <a:pPr indent="0" marL="0">
              <a:lnSpc>
                <a:spcPct val="125000"/>
              </a:lnSpc>
              <a:buNone/>
            </a:pPr>
            <a:r>
              <a:rPr lang="en-US" sz="1450" dirty="0">
                <a:solidFill>
                  <a:srgbClr val="2B2B2B"/>
                </a:solidFill>
                <a:latin typeface="Calibri" pitchFamily="34" charset="0"/>
                <a:ea typeface="Calibri" pitchFamily="34" charset="-122"/>
                <a:cs typeface="Calibri" pitchFamily="34" charset="-120"/>
              </a:rPr>
              <a:t>Answering isn't enough — to raise the ticket, the model needs to call real systems: Postgres, Drive, Slack. Tool calling is the model's ability to say “run this function.” MCP (Model Context Protocol) is a standard way to expose those functions so you're not writing a custom integration for every tool and every model.</a:t>
            </a:r>
            <a:endParaRPr lang="en-US" sz="1450" dirty="0"/>
          </a:p>
        </p:txBody>
      </p:sp>
      <p:sp>
        <p:nvSpPr>
          <p:cNvPr id="14" name="Text 12"/>
          <p:cNvSpPr txBox="1"/>
          <p:nvPr/>
        </p:nvSpPr>
        <p:spPr>
          <a:xfrm>
            <a:off x="6370168" y="2103120"/>
            <a:ext cx="5272888" cy="3931920"/>
          </a:xfrm>
          <a:prstGeom prst="rect">
            <a:avLst/>
          </a:prstGeom>
          <a:noFill/>
          <a:ln/>
        </p:spPr>
        <p:txBody>
          <a:bodyPr wrap="square" lIns="0" tIns="0" rIns="0" bIns="0" rtlCol="0" anchor="t"/>
          <a:lstStyle/>
          <a:p>
            <a:pPr indent="0" marL="0">
              <a:lnSpc>
                <a:spcPct val="125000"/>
              </a:lnSpc>
              <a:buNone/>
            </a:pPr>
            <a:r>
              <a:rPr lang="en-US" sz="1450" dirty="0">
                <a:solidFill>
                  <a:srgbClr val="2B2B2B"/>
                </a:solidFill>
                <a:latin typeface="Calibri" pitchFamily="34" charset="0"/>
                <a:ea typeface="Calibri" pitchFamily="34" charset="-122"/>
                <a:cs typeface="Calibri" pitchFamily="34" charset="-120"/>
              </a:rPr>
              <a:t>Odpovědět nestačí – aby model založil tiket, musí umět zavolat reálné systémy: Postgres, Drive, Slack. Tool calling je schopnost modelu říct „spusť tuhle funkci“. MCP (Model Context Protocol) je standardizovaný způsob, jak tyto funkce zpřístupnit, takže nepíšete vlastní integraci pro každý nástroj a každý model zvlášť.</a:t>
            </a:r>
            <a:endParaRPr lang="en-US" sz="1450" dirty="0"/>
          </a:p>
        </p:txBody>
      </p:sp>
      <p:sp>
        <p:nvSpPr>
          <p:cNvPr id="15" name="Shape 13"/>
          <p:cNvSpPr/>
          <p:nvPr/>
        </p:nvSpPr>
        <p:spPr>
          <a:xfrm>
            <a:off x="9265615" y="5943600"/>
            <a:ext cx="2377440" cy="365760"/>
          </a:xfrm>
          <a:prstGeom prst="roundRect">
            <a:avLst>
              <a:gd name="adj" fmla="val 50000"/>
            </a:avLst>
          </a:prstGeom>
          <a:solidFill>
            <a:srgbClr val="1E2761"/>
          </a:solidFill>
          <a:ln/>
        </p:spPr>
      </p:sp>
      <p:sp>
        <p:nvSpPr>
          <p:cNvPr id="16" name="Text 14"/>
          <p:cNvSpPr txBox="1"/>
          <p:nvPr/>
        </p:nvSpPr>
        <p:spPr>
          <a:xfrm>
            <a:off x="9265615" y="5943600"/>
            <a:ext cx="2377440" cy="36576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PRODUCTION-READY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141568" y="1645920"/>
            <a:ext cx="5730088" cy="4480560"/>
          </a:xfrm>
          <a:prstGeom prst="roundRect">
            <a:avLst>
              <a:gd name="adj" fmla="val 1633"/>
            </a:avLst>
          </a:prstGeom>
          <a:solidFill>
            <a:srgbClr val="F0F4FC"/>
          </a:solidFill>
          <a:ln/>
        </p:spPr>
      </p:sp>
      <p:sp>
        <p:nvSpPr>
          <p:cNvPr id="3" name="Shape 1"/>
          <p:cNvSpPr/>
          <p:nvPr/>
        </p:nvSpPr>
        <p:spPr>
          <a:xfrm>
            <a:off x="548640" y="502920"/>
            <a:ext cx="822960" cy="822960"/>
          </a:xfrm>
          <a:prstGeom prst="ellipse">
            <a:avLst/>
          </a:prstGeom>
          <a:solidFill>
            <a:srgbClr val="1E2761"/>
          </a:solidFill>
          <a:ln/>
        </p:spPr>
      </p:sp>
      <p:sp>
        <p:nvSpPr>
          <p:cNvPr id="4" name="Text 2"/>
          <p:cNvSpPr txBox="1"/>
          <p:nvPr/>
        </p:nvSpPr>
        <p:spPr>
          <a:xfrm>
            <a:off x="5486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6</a:t>
            </a:r>
            <a:endParaRPr lang="en-US" sz="2600" dirty="0"/>
          </a:p>
        </p:txBody>
      </p:sp>
      <p:sp>
        <p:nvSpPr>
          <p:cNvPr id="5" name="Shape 3"/>
          <p:cNvSpPr/>
          <p:nvPr/>
        </p:nvSpPr>
        <p:spPr>
          <a:xfrm>
            <a:off x="10820095" y="502920"/>
            <a:ext cx="822960" cy="91440"/>
          </a:xfrm>
          <a:prstGeom prst="roundRect">
            <a:avLst>
              <a:gd name="adj" fmla="val 20000"/>
            </a:avLst>
          </a:prstGeom>
          <a:solidFill>
            <a:srgbClr val="CADCFC"/>
          </a:solidFill>
          <a:ln/>
        </p:spPr>
      </p:sp>
      <p:sp>
        <p:nvSpPr>
          <p:cNvPr id="6" name="Shape 4"/>
          <p:cNvSpPr/>
          <p:nvPr/>
        </p:nvSpPr>
        <p:spPr>
          <a:xfrm>
            <a:off x="10902391" y="649224"/>
            <a:ext cx="658368" cy="91440"/>
          </a:xfrm>
          <a:prstGeom prst="roundRect">
            <a:avLst>
              <a:gd name="adj" fmla="val 20000"/>
            </a:avLst>
          </a:prstGeom>
          <a:solidFill>
            <a:srgbClr val="1E2761"/>
          </a:solidFill>
          <a:ln/>
        </p:spPr>
      </p:sp>
      <p:sp>
        <p:nvSpPr>
          <p:cNvPr id="7" name="Shape 5"/>
          <p:cNvSpPr/>
          <p:nvPr/>
        </p:nvSpPr>
        <p:spPr>
          <a:xfrm>
            <a:off x="10984687" y="795528"/>
            <a:ext cx="493776" cy="91440"/>
          </a:xfrm>
          <a:prstGeom prst="roundRect">
            <a:avLst>
              <a:gd name="adj" fmla="val 20000"/>
            </a:avLst>
          </a:prstGeom>
          <a:solidFill>
            <a:srgbClr val="CADCFC"/>
          </a:solidFill>
          <a:ln/>
        </p:spPr>
      </p:sp>
      <p:sp>
        <p:nvSpPr>
          <p:cNvPr id="8" name="Shape 6"/>
          <p:cNvSpPr/>
          <p:nvPr/>
        </p:nvSpPr>
        <p:spPr>
          <a:xfrm>
            <a:off x="11066983" y="941832"/>
            <a:ext cx="329184" cy="91440"/>
          </a:xfrm>
          <a:prstGeom prst="roundRect">
            <a:avLst>
              <a:gd name="adj" fmla="val 20000"/>
            </a:avLst>
          </a:prstGeom>
          <a:solidFill>
            <a:srgbClr val="1E2761"/>
          </a:solidFill>
          <a:ln/>
        </p:spPr>
      </p:sp>
      <p:sp>
        <p:nvSpPr>
          <p:cNvPr id="9" name="Text 7"/>
          <p:cNvSpPr txBox="1"/>
          <p:nvPr/>
        </p:nvSpPr>
        <p:spPr>
          <a:xfrm>
            <a:off x="1600200" y="457200"/>
            <a:ext cx="7772400" cy="50292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AI agent</a:t>
            </a:r>
            <a:endParaRPr lang="en-US" sz="2800" dirty="0"/>
          </a:p>
        </p:txBody>
      </p:sp>
      <p:sp>
        <p:nvSpPr>
          <p:cNvPr id="10" name="Text 8"/>
          <p:cNvSpPr txBox="1"/>
          <p:nvPr/>
        </p:nvSpPr>
        <p:spPr>
          <a:xfrm>
            <a:off x="1600200" y="960120"/>
            <a:ext cx="7772400" cy="365760"/>
          </a:xfrm>
          <a:prstGeom prst="rect">
            <a:avLst/>
          </a:prstGeom>
          <a:noFill/>
          <a:ln/>
        </p:spPr>
        <p:txBody>
          <a:bodyPr wrap="square" lIns="0" tIns="0" rIns="0" bIns="0" rtlCol="0" anchor="ctr"/>
          <a:lstStyle/>
          <a:p>
            <a:pPr indent="0" marL="0">
              <a:buNone/>
            </a:pPr>
            <a:r>
              <a:rPr lang="en-US" sz="1700" i="1" dirty="0">
                <a:solidFill>
                  <a:srgbClr val="5A6B8C"/>
                </a:solidFill>
                <a:latin typeface="Calibri" pitchFamily="34" charset="0"/>
                <a:ea typeface="Calibri" pitchFamily="34" charset="-122"/>
                <a:cs typeface="Calibri" pitchFamily="34" charset="-120"/>
              </a:rPr>
              <a:t>AI agent</a:t>
            </a:r>
            <a:endParaRPr lang="en-US" sz="1700" dirty="0"/>
          </a:p>
        </p:txBody>
      </p:sp>
      <p:sp>
        <p:nvSpPr>
          <p:cNvPr id="11" name="Text 9"/>
          <p:cNvSpPr txBox="1"/>
          <p:nvPr/>
        </p:nvSpPr>
        <p:spPr>
          <a:xfrm>
            <a:off x="548640" y="1783080"/>
            <a:ext cx="5272888" cy="274320"/>
          </a:xfrm>
          <a:prstGeom prst="rect">
            <a:avLst/>
          </a:prstGeom>
          <a:noFill/>
          <a:ln/>
        </p:spPr>
        <p:txBody>
          <a:bodyPr wrap="square" lIns="0" tIns="0" rIns="0" bIns="0" rtlCol="0" anchor="ctr"/>
          <a:lstStyle/>
          <a:p>
            <a:pPr indent="0" marL="0">
              <a:buNone/>
            </a:pPr>
            <a:r>
              <a:rPr lang="en-US" sz="1100" b="1" spc="200" kern="0" dirty="0">
                <a:solidFill>
                  <a:srgbClr val="5A6B8C"/>
                </a:solidFill>
                <a:latin typeface="Calibri" pitchFamily="34" charset="0"/>
                <a:ea typeface="Calibri" pitchFamily="34" charset="-122"/>
                <a:cs typeface="Calibri" pitchFamily="34" charset="-120"/>
              </a:rPr>
              <a:t>ENGLISH</a:t>
            </a:r>
            <a:endParaRPr lang="en-US" sz="1100" dirty="0"/>
          </a:p>
        </p:txBody>
      </p:sp>
      <p:sp>
        <p:nvSpPr>
          <p:cNvPr id="12" name="Text 10"/>
          <p:cNvSpPr txBox="1"/>
          <p:nvPr/>
        </p:nvSpPr>
        <p:spPr>
          <a:xfrm>
            <a:off x="6370168" y="1783080"/>
            <a:ext cx="5272888"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ČESKY</a:t>
            </a:r>
            <a:endParaRPr lang="en-US" sz="1100" dirty="0"/>
          </a:p>
        </p:txBody>
      </p:sp>
      <p:sp>
        <p:nvSpPr>
          <p:cNvPr id="13" name="Text 11"/>
          <p:cNvSpPr txBox="1"/>
          <p:nvPr/>
        </p:nvSpPr>
        <p:spPr>
          <a:xfrm>
            <a:off x="548640" y="2103120"/>
            <a:ext cx="5272888" cy="3931920"/>
          </a:xfrm>
          <a:prstGeom prst="rect">
            <a:avLst/>
          </a:prstGeom>
          <a:noFill/>
          <a:ln/>
        </p:spPr>
        <p:txBody>
          <a:bodyPr wrap="square" lIns="0" tIns="0" rIns="0" bIns="0" rtlCol="0" anchor="t"/>
          <a:lstStyle/>
          <a:p>
            <a:pPr indent="0" marL="0">
              <a:lnSpc>
                <a:spcPct val="125000"/>
              </a:lnSpc>
              <a:buNone/>
            </a:pPr>
            <a:r>
              <a:rPr lang="en-US" sz="1450" dirty="0">
                <a:solidFill>
                  <a:srgbClr val="2B2B2B"/>
                </a:solidFill>
                <a:latin typeface="Calibri" pitchFamily="34" charset="0"/>
                <a:ea typeface="Calibri" pitchFamily="34" charset="-122"/>
                <a:cs typeface="Calibri" pitchFamily="34" charset="-120"/>
              </a:rPr>
              <a:t>Now it stops being a chatbot. It plans: read the question, search the docs, check the order, decide refund or not, then act — using the tools from layer 5.</a:t>
            </a:r>
            <a:endParaRPr lang="en-US" sz="1450" dirty="0"/>
          </a:p>
        </p:txBody>
      </p:sp>
      <p:sp>
        <p:nvSpPr>
          <p:cNvPr id="14" name="Text 12"/>
          <p:cNvSpPr txBox="1"/>
          <p:nvPr/>
        </p:nvSpPr>
        <p:spPr>
          <a:xfrm>
            <a:off x="6370168" y="2103120"/>
            <a:ext cx="5272888" cy="3931920"/>
          </a:xfrm>
          <a:prstGeom prst="rect">
            <a:avLst/>
          </a:prstGeom>
          <a:noFill/>
          <a:ln/>
        </p:spPr>
        <p:txBody>
          <a:bodyPr wrap="square" lIns="0" tIns="0" rIns="0" bIns="0" rtlCol="0" anchor="t"/>
          <a:lstStyle/>
          <a:p>
            <a:pPr indent="0" marL="0">
              <a:lnSpc>
                <a:spcPct val="125000"/>
              </a:lnSpc>
              <a:buNone/>
            </a:pPr>
            <a:r>
              <a:rPr lang="en-US" sz="1450" dirty="0">
                <a:solidFill>
                  <a:srgbClr val="2B2B2B"/>
                </a:solidFill>
                <a:latin typeface="Calibri" pitchFamily="34" charset="0"/>
                <a:ea typeface="Calibri" pitchFamily="34" charset="-122"/>
                <a:cs typeface="Calibri" pitchFamily="34" charset="-120"/>
              </a:rPr>
              <a:t>Teď přestává být chatbotem. Plánuje: přečte dotaz, prohledá dokumentaci, zkontroluje objednávku, rozhodne o refundaci a jedná – pomocí nástrojů z vrstvy 5.</a:t>
            </a:r>
            <a:endParaRPr lang="en-US" sz="1450" dirty="0"/>
          </a:p>
        </p:txBody>
      </p:sp>
      <p:sp>
        <p:nvSpPr>
          <p:cNvPr id="15" name="Shape 13"/>
          <p:cNvSpPr/>
          <p:nvPr/>
        </p:nvSpPr>
        <p:spPr>
          <a:xfrm>
            <a:off x="9265615" y="5943600"/>
            <a:ext cx="2377440" cy="365760"/>
          </a:xfrm>
          <a:prstGeom prst="roundRect">
            <a:avLst>
              <a:gd name="adj" fmla="val 50000"/>
            </a:avLst>
          </a:prstGeom>
          <a:solidFill>
            <a:srgbClr val="1E2761"/>
          </a:solidFill>
          <a:ln/>
        </p:spPr>
      </p:sp>
      <p:sp>
        <p:nvSpPr>
          <p:cNvPr id="16" name="Text 14"/>
          <p:cNvSpPr txBox="1"/>
          <p:nvPr/>
        </p:nvSpPr>
        <p:spPr>
          <a:xfrm>
            <a:off x="9265615" y="5943600"/>
            <a:ext cx="2377440" cy="36576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PRODUCTION-READY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141568" y="1645920"/>
            <a:ext cx="5730088" cy="4480560"/>
          </a:xfrm>
          <a:prstGeom prst="roundRect">
            <a:avLst>
              <a:gd name="adj" fmla="val 1633"/>
            </a:avLst>
          </a:prstGeom>
          <a:solidFill>
            <a:srgbClr val="F0F4FC"/>
          </a:solidFill>
          <a:ln/>
        </p:spPr>
      </p:sp>
      <p:sp>
        <p:nvSpPr>
          <p:cNvPr id="3" name="Shape 1"/>
          <p:cNvSpPr/>
          <p:nvPr/>
        </p:nvSpPr>
        <p:spPr>
          <a:xfrm>
            <a:off x="548640" y="502920"/>
            <a:ext cx="822960" cy="822960"/>
          </a:xfrm>
          <a:prstGeom prst="ellipse">
            <a:avLst/>
          </a:prstGeom>
          <a:solidFill>
            <a:srgbClr val="1E2761"/>
          </a:solidFill>
          <a:ln/>
        </p:spPr>
      </p:sp>
      <p:sp>
        <p:nvSpPr>
          <p:cNvPr id="4" name="Text 2"/>
          <p:cNvSpPr txBox="1"/>
          <p:nvPr/>
        </p:nvSpPr>
        <p:spPr>
          <a:xfrm>
            <a:off x="5486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7</a:t>
            </a:r>
            <a:endParaRPr lang="en-US" sz="2600" dirty="0"/>
          </a:p>
        </p:txBody>
      </p:sp>
      <p:sp>
        <p:nvSpPr>
          <p:cNvPr id="5" name="Shape 3"/>
          <p:cNvSpPr/>
          <p:nvPr/>
        </p:nvSpPr>
        <p:spPr>
          <a:xfrm>
            <a:off x="10820095" y="502920"/>
            <a:ext cx="822960" cy="91440"/>
          </a:xfrm>
          <a:prstGeom prst="roundRect">
            <a:avLst>
              <a:gd name="adj" fmla="val 20000"/>
            </a:avLst>
          </a:prstGeom>
          <a:solidFill>
            <a:srgbClr val="CADCFC"/>
          </a:solidFill>
          <a:ln/>
        </p:spPr>
      </p:sp>
      <p:sp>
        <p:nvSpPr>
          <p:cNvPr id="6" name="Shape 4"/>
          <p:cNvSpPr/>
          <p:nvPr/>
        </p:nvSpPr>
        <p:spPr>
          <a:xfrm>
            <a:off x="10902391" y="649224"/>
            <a:ext cx="658368" cy="91440"/>
          </a:xfrm>
          <a:prstGeom prst="roundRect">
            <a:avLst>
              <a:gd name="adj" fmla="val 20000"/>
            </a:avLst>
          </a:prstGeom>
          <a:solidFill>
            <a:srgbClr val="1E2761"/>
          </a:solidFill>
          <a:ln/>
        </p:spPr>
      </p:sp>
      <p:sp>
        <p:nvSpPr>
          <p:cNvPr id="7" name="Shape 5"/>
          <p:cNvSpPr/>
          <p:nvPr/>
        </p:nvSpPr>
        <p:spPr>
          <a:xfrm>
            <a:off x="10984687" y="795528"/>
            <a:ext cx="493776" cy="91440"/>
          </a:xfrm>
          <a:prstGeom prst="roundRect">
            <a:avLst>
              <a:gd name="adj" fmla="val 20000"/>
            </a:avLst>
          </a:prstGeom>
          <a:solidFill>
            <a:srgbClr val="CADCFC"/>
          </a:solidFill>
          <a:ln/>
        </p:spPr>
      </p:sp>
      <p:sp>
        <p:nvSpPr>
          <p:cNvPr id="8" name="Shape 6"/>
          <p:cNvSpPr/>
          <p:nvPr/>
        </p:nvSpPr>
        <p:spPr>
          <a:xfrm>
            <a:off x="11066983" y="941832"/>
            <a:ext cx="329184" cy="91440"/>
          </a:xfrm>
          <a:prstGeom prst="roundRect">
            <a:avLst>
              <a:gd name="adj" fmla="val 20000"/>
            </a:avLst>
          </a:prstGeom>
          <a:solidFill>
            <a:srgbClr val="1E2761"/>
          </a:solidFill>
          <a:ln/>
        </p:spPr>
      </p:sp>
      <p:sp>
        <p:nvSpPr>
          <p:cNvPr id="9" name="Text 7"/>
          <p:cNvSpPr txBox="1"/>
          <p:nvPr/>
        </p:nvSpPr>
        <p:spPr>
          <a:xfrm>
            <a:off x="1600200" y="457200"/>
            <a:ext cx="7772400" cy="50292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Agentic frameworks</a:t>
            </a:r>
            <a:endParaRPr lang="en-US" sz="2800" dirty="0"/>
          </a:p>
        </p:txBody>
      </p:sp>
      <p:sp>
        <p:nvSpPr>
          <p:cNvPr id="10" name="Text 8"/>
          <p:cNvSpPr txBox="1"/>
          <p:nvPr/>
        </p:nvSpPr>
        <p:spPr>
          <a:xfrm>
            <a:off x="1600200" y="960120"/>
            <a:ext cx="7772400" cy="365760"/>
          </a:xfrm>
          <a:prstGeom prst="rect">
            <a:avLst/>
          </a:prstGeom>
          <a:noFill/>
          <a:ln/>
        </p:spPr>
        <p:txBody>
          <a:bodyPr wrap="square" lIns="0" tIns="0" rIns="0" bIns="0" rtlCol="0" anchor="ctr"/>
          <a:lstStyle/>
          <a:p>
            <a:pPr indent="0" marL="0">
              <a:buNone/>
            </a:pPr>
            <a:r>
              <a:rPr lang="en-US" sz="1700" i="1" dirty="0">
                <a:solidFill>
                  <a:srgbClr val="5A6B8C"/>
                </a:solidFill>
                <a:latin typeface="Calibri" pitchFamily="34" charset="0"/>
                <a:ea typeface="Calibri" pitchFamily="34" charset="-122"/>
                <a:cs typeface="Calibri" pitchFamily="34" charset="-120"/>
              </a:rPr>
              <a:t>Agentní frameworky</a:t>
            </a:r>
            <a:endParaRPr lang="en-US" sz="1700" dirty="0"/>
          </a:p>
        </p:txBody>
      </p:sp>
      <p:sp>
        <p:nvSpPr>
          <p:cNvPr id="11" name="Text 9"/>
          <p:cNvSpPr txBox="1"/>
          <p:nvPr/>
        </p:nvSpPr>
        <p:spPr>
          <a:xfrm>
            <a:off x="548640" y="1783080"/>
            <a:ext cx="5272888" cy="274320"/>
          </a:xfrm>
          <a:prstGeom prst="rect">
            <a:avLst/>
          </a:prstGeom>
          <a:noFill/>
          <a:ln/>
        </p:spPr>
        <p:txBody>
          <a:bodyPr wrap="square" lIns="0" tIns="0" rIns="0" bIns="0" rtlCol="0" anchor="ctr"/>
          <a:lstStyle/>
          <a:p>
            <a:pPr indent="0" marL="0">
              <a:buNone/>
            </a:pPr>
            <a:r>
              <a:rPr lang="en-US" sz="1100" b="1" spc="200" kern="0" dirty="0">
                <a:solidFill>
                  <a:srgbClr val="5A6B8C"/>
                </a:solidFill>
                <a:latin typeface="Calibri" pitchFamily="34" charset="0"/>
                <a:ea typeface="Calibri" pitchFamily="34" charset="-122"/>
                <a:cs typeface="Calibri" pitchFamily="34" charset="-120"/>
              </a:rPr>
              <a:t>ENGLISH</a:t>
            </a:r>
            <a:endParaRPr lang="en-US" sz="1100" dirty="0"/>
          </a:p>
        </p:txBody>
      </p:sp>
      <p:sp>
        <p:nvSpPr>
          <p:cNvPr id="12" name="Text 10"/>
          <p:cNvSpPr txBox="1"/>
          <p:nvPr/>
        </p:nvSpPr>
        <p:spPr>
          <a:xfrm>
            <a:off x="6370168" y="1783080"/>
            <a:ext cx="5272888"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ČESKY</a:t>
            </a:r>
            <a:endParaRPr lang="en-US" sz="1100" dirty="0"/>
          </a:p>
        </p:txBody>
      </p:sp>
      <p:sp>
        <p:nvSpPr>
          <p:cNvPr id="13" name="Text 11"/>
          <p:cNvSpPr txBox="1"/>
          <p:nvPr/>
        </p:nvSpPr>
        <p:spPr>
          <a:xfrm>
            <a:off x="548640" y="2103120"/>
            <a:ext cx="5272888" cy="3931920"/>
          </a:xfrm>
          <a:prstGeom prst="rect">
            <a:avLst/>
          </a:prstGeom>
          <a:noFill/>
          <a:ln/>
        </p:spPr>
        <p:txBody>
          <a:bodyPr wrap="square" lIns="0" tIns="0" rIns="0" bIns="0" rtlCol="0" anchor="t"/>
          <a:lstStyle/>
          <a:p>
            <a:pPr indent="0" marL="0">
              <a:lnSpc>
                <a:spcPct val="125000"/>
              </a:lnSpc>
              <a:buNone/>
            </a:pPr>
            <a:r>
              <a:rPr lang="en-US" sz="1450" dirty="0">
                <a:solidFill>
                  <a:srgbClr val="2B2B2B"/>
                </a:solidFill>
                <a:latin typeface="Calibri" pitchFamily="34" charset="0"/>
                <a:ea typeface="Calibri" pitchFamily="34" charset="-122"/>
                <a:cs typeface="Calibri" pitchFamily="34" charset="-120"/>
              </a:rPr>
              <a:t>One agent is fine until the work splits. Frameworks let a retrieval agent, a policy agent, and an action agent hand work to each other instead of one giant prompt trying to do everything.</a:t>
            </a:r>
            <a:endParaRPr lang="en-US" sz="1450" dirty="0"/>
          </a:p>
        </p:txBody>
      </p:sp>
      <p:sp>
        <p:nvSpPr>
          <p:cNvPr id="14" name="Text 12"/>
          <p:cNvSpPr txBox="1"/>
          <p:nvPr/>
        </p:nvSpPr>
        <p:spPr>
          <a:xfrm>
            <a:off x="6370168" y="2103120"/>
            <a:ext cx="5272888" cy="3931920"/>
          </a:xfrm>
          <a:prstGeom prst="rect">
            <a:avLst/>
          </a:prstGeom>
          <a:noFill/>
          <a:ln/>
        </p:spPr>
        <p:txBody>
          <a:bodyPr wrap="square" lIns="0" tIns="0" rIns="0" bIns="0" rtlCol="0" anchor="t"/>
          <a:lstStyle/>
          <a:p>
            <a:pPr indent="0" marL="0">
              <a:lnSpc>
                <a:spcPct val="125000"/>
              </a:lnSpc>
              <a:buNone/>
            </a:pPr>
            <a:r>
              <a:rPr lang="en-US" sz="1450" dirty="0">
                <a:solidFill>
                  <a:srgbClr val="2B2B2B"/>
                </a:solidFill>
                <a:latin typeface="Calibri" pitchFamily="34" charset="0"/>
                <a:ea typeface="Calibri" pitchFamily="34" charset="-122"/>
                <a:cs typeface="Calibri" pitchFamily="34" charset="-120"/>
              </a:rPr>
              <a:t>Jeden agent stačí, dokud se práce nerozdělí. Frameworky umožňují, aby si vyhledávací agent, agent pro pravidla a výkonný agent předávali práci mezi sebou – místo jednoho obřího promptu, který se snaží zvládnout všechno.</a:t>
            </a:r>
            <a:endParaRPr lang="en-US" sz="1450" dirty="0"/>
          </a:p>
        </p:txBody>
      </p:sp>
      <p:sp>
        <p:nvSpPr>
          <p:cNvPr id="15" name="Shape 13"/>
          <p:cNvSpPr/>
          <p:nvPr/>
        </p:nvSpPr>
        <p:spPr>
          <a:xfrm>
            <a:off x="9265615" y="5943600"/>
            <a:ext cx="2377440" cy="365760"/>
          </a:xfrm>
          <a:prstGeom prst="roundRect">
            <a:avLst>
              <a:gd name="adj" fmla="val 50000"/>
            </a:avLst>
          </a:prstGeom>
          <a:solidFill>
            <a:srgbClr val="1E2761"/>
          </a:solidFill>
          <a:ln/>
        </p:spPr>
      </p:sp>
      <p:sp>
        <p:nvSpPr>
          <p:cNvPr id="16" name="Text 14"/>
          <p:cNvSpPr txBox="1"/>
          <p:nvPr/>
        </p:nvSpPr>
        <p:spPr>
          <a:xfrm>
            <a:off x="9265615" y="5943600"/>
            <a:ext cx="2377440" cy="36576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PRODUCTION-READY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141568" y="1645920"/>
            <a:ext cx="5730088" cy="4480560"/>
          </a:xfrm>
          <a:prstGeom prst="roundRect">
            <a:avLst>
              <a:gd name="adj" fmla="val 1633"/>
            </a:avLst>
          </a:prstGeom>
          <a:solidFill>
            <a:srgbClr val="F0F4FC"/>
          </a:solidFill>
          <a:ln/>
        </p:spPr>
      </p:sp>
      <p:sp>
        <p:nvSpPr>
          <p:cNvPr id="3" name="Shape 1"/>
          <p:cNvSpPr/>
          <p:nvPr/>
        </p:nvSpPr>
        <p:spPr>
          <a:xfrm>
            <a:off x="548640" y="502920"/>
            <a:ext cx="822960" cy="822960"/>
          </a:xfrm>
          <a:prstGeom prst="ellipse">
            <a:avLst/>
          </a:prstGeom>
          <a:solidFill>
            <a:srgbClr val="1E2761"/>
          </a:solidFill>
          <a:ln/>
        </p:spPr>
      </p:sp>
      <p:sp>
        <p:nvSpPr>
          <p:cNvPr id="4" name="Text 2"/>
          <p:cNvSpPr txBox="1"/>
          <p:nvPr/>
        </p:nvSpPr>
        <p:spPr>
          <a:xfrm>
            <a:off x="5486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8</a:t>
            </a:r>
            <a:endParaRPr lang="en-US" sz="2600" dirty="0"/>
          </a:p>
        </p:txBody>
      </p:sp>
      <p:sp>
        <p:nvSpPr>
          <p:cNvPr id="5" name="Shape 3"/>
          <p:cNvSpPr/>
          <p:nvPr/>
        </p:nvSpPr>
        <p:spPr>
          <a:xfrm>
            <a:off x="10820095" y="502920"/>
            <a:ext cx="822960" cy="91440"/>
          </a:xfrm>
          <a:prstGeom prst="roundRect">
            <a:avLst>
              <a:gd name="adj" fmla="val 20000"/>
            </a:avLst>
          </a:prstGeom>
          <a:solidFill>
            <a:srgbClr val="CADCFC"/>
          </a:solidFill>
          <a:ln/>
        </p:spPr>
      </p:sp>
      <p:sp>
        <p:nvSpPr>
          <p:cNvPr id="6" name="Shape 4"/>
          <p:cNvSpPr/>
          <p:nvPr/>
        </p:nvSpPr>
        <p:spPr>
          <a:xfrm>
            <a:off x="10902391" y="649224"/>
            <a:ext cx="658368" cy="91440"/>
          </a:xfrm>
          <a:prstGeom prst="roundRect">
            <a:avLst>
              <a:gd name="adj" fmla="val 20000"/>
            </a:avLst>
          </a:prstGeom>
          <a:solidFill>
            <a:srgbClr val="1E2761"/>
          </a:solidFill>
          <a:ln/>
        </p:spPr>
      </p:sp>
      <p:sp>
        <p:nvSpPr>
          <p:cNvPr id="7" name="Shape 5"/>
          <p:cNvSpPr/>
          <p:nvPr/>
        </p:nvSpPr>
        <p:spPr>
          <a:xfrm>
            <a:off x="10984687" y="795528"/>
            <a:ext cx="493776" cy="91440"/>
          </a:xfrm>
          <a:prstGeom prst="roundRect">
            <a:avLst>
              <a:gd name="adj" fmla="val 20000"/>
            </a:avLst>
          </a:prstGeom>
          <a:solidFill>
            <a:srgbClr val="CADCFC"/>
          </a:solidFill>
          <a:ln/>
        </p:spPr>
      </p:sp>
      <p:sp>
        <p:nvSpPr>
          <p:cNvPr id="8" name="Shape 6"/>
          <p:cNvSpPr/>
          <p:nvPr/>
        </p:nvSpPr>
        <p:spPr>
          <a:xfrm>
            <a:off x="11066983" y="941832"/>
            <a:ext cx="329184" cy="91440"/>
          </a:xfrm>
          <a:prstGeom prst="roundRect">
            <a:avLst>
              <a:gd name="adj" fmla="val 20000"/>
            </a:avLst>
          </a:prstGeom>
          <a:solidFill>
            <a:srgbClr val="1E2761"/>
          </a:solidFill>
          <a:ln/>
        </p:spPr>
      </p:sp>
      <p:sp>
        <p:nvSpPr>
          <p:cNvPr id="9" name="Text 7"/>
          <p:cNvSpPr txBox="1"/>
          <p:nvPr/>
        </p:nvSpPr>
        <p:spPr>
          <a:xfrm>
            <a:off x="1600200" y="457200"/>
            <a:ext cx="7772400" cy="50292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Memory</a:t>
            </a:r>
            <a:endParaRPr lang="en-US" sz="2800" dirty="0"/>
          </a:p>
        </p:txBody>
      </p:sp>
      <p:sp>
        <p:nvSpPr>
          <p:cNvPr id="10" name="Text 8"/>
          <p:cNvSpPr txBox="1"/>
          <p:nvPr/>
        </p:nvSpPr>
        <p:spPr>
          <a:xfrm>
            <a:off x="1600200" y="960120"/>
            <a:ext cx="7772400" cy="365760"/>
          </a:xfrm>
          <a:prstGeom prst="rect">
            <a:avLst/>
          </a:prstGeom>
          <a:noFill/>
          <a:ln/>
        </p:spPr>
        <p:txBody>
          <a:bodyPr wrap="square" lIns="0" tIns="0" rIns="0" bIns="0" rtlCol="0" anchor="ctr"/>
          <a:lstStyle/>
          <a:p>
            <a:pPr indent="0" marL="0">
              <a:buNone/>
            </a:pPr>
            <a:r>
              <a:rPr lang="en-US" sz="1700" i="1" dirty="0">
                <a:solidFill>
                  <a:srgbClr val="5A6B8C"/>
                </a:solidFill>
                <a:latin typeface="Calibri" pitchFamily="34" charset="0"/>
                <a:ea typeface="Calibri" pitchFamily="34" charset="-122"/>
                <a:cs typeface="Calibri" pitchFamily="34" charset="-120"/>
              </a:rPr>
              <a:t>Paměť</a:t>
            </a:r>
            <a:endParaRPr lang="en-US" sz="1700" dirty="0"/>
          </a:p>
        </p:txBody>
      </p:sp>
      <p:sp>
        <p:nvSpPr>
          <p:cNvPr id="11" name="Text 9"/>
          <p:cNvSpPr txBox="1"/>
          <p:nvPr/>
        </p:nvSpPr>
        <p:spPr>
          <a:xfrm>
            <a:off x="548640" y="1783080"/>
            <a:ext cx="5272888" cy="274320"/>
          </a:xfrm>
          <a:prstGeom prst="rect">
            <a:avLst/>
          </a:prstGeom>
          <a:noFill/>
          <a:ln/>
        </p:spPr>
        <p:txBody>
          <a:bodyPr wrap="square" lIns="0" tIns="0" rIns="0" bIns="0" rtlCol="0" anchor="ctr"/>
          <a:lstStyle/>
          <a:p>
            <a:pPr indent="0" marL="0">
              <a:buNone/>
            </a:pPr>
            <a:r>
              <a:rPr lang="en-US" sz="1100" b="1" spc="200" kern="0" dirty="0">
                <a:solidFill>
                  <a:srgbClr val="5A6B8C"/>
                </a:solidFill>
                <a:latin typeface="Calibri" pitchFamily="34" charset="0"/>
                <a:ea typeface="Calibri" pitchFamily="34" charset="-122"/>
                <a:cs typeface="Calibri" pitchFamily="34" charset="-120"/>
              </a:rPr>
              <a:t>ENGLISH</a:t>
            </a:r>
            <a:endParaRPr lang="en-US" sz="1100" dirty="0"/>
          </a:p>
        </p:txBody>
      </p:sp>
      <p:sp>
        <p:nvSpPr>
          <p:cNvPr id="12" name="Text 10"/>
          <p:cNvSpPr txBox="1"/>
          <p:nvPr/>
        </p:nvSpPr>
        <p:spPr>
          <a:xfrm>
            <a:off x="6370168" y="1783080"/>
            <a:ext cx="5272888"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ČESKY</a:t>
            </a:r>
            <a:endParaRPr lang="en-US" sz="1100" dirty="0"/>
          </a:p>
        </p:txBody>
      </p:sp>
      <p:sp>
        <p:nvSpPr>
          <p:cNvPr id="13" name="Text 11"/>
          <p:cNvSpPr txBox="1"/>
          <p:nvPr/>
        </p:nvSpPr>
        <p:spPr>
          <a:xfrm>
            <a:off x="548640" y="2103120"/>
            <a:ext cx="5272888" cy="3931920"/>
          </a:xfrm>
          <a:prstGeom prst="rect">
            <a:avLst/>
          </a:prstGeom>
          <a:noFill/>
          <a:ln/>
        </p:spPr>
        <p:txBody>
          <a:bodyPr wrap="square" lIns="0" tIns="0" rIns="0" bIns="0" rtlCol="0" anchor="t"/>
          <a:lstStyle/>
          <a:p>
            <a:pPr indent="0" marL="0">
              <a:lnSpc>
                <a:spcPct val="125000"/>
              </a:lnSpc>
              <a:buNone/>
            </a:pPr>
            <a:r>
              <a:rPr lang="en-US" sz="1450" dirty="0">
                <a:solidFill>
                  <a:srgbClr val="2B2B2B"/>
                </a:solidFill>
                <a:latin typeface="Calibri" pitchFamily="34" charset="0"/>
                <a:ea typeface="Calibri" pitchFamily="34" charset="-122"/>
                <a:cs typeface="Calibri" pitchFamily="34" charset="-120"/>
              </a:rPr>
              <a:t>Users hate repeating themselves. Memory carries context across turns and sessions, so the order ID from message two is still there in message nine.</a:t>
            </a:r>
            <a:endParaRPr lang="en-US" sz="1450" dirty="0"/>
          </a:p>
        </p:txBody>
      </p:sp>
      <p:sp>
        <p:nvSpPr>
          <p:cNvPr id="14" name="Text 12"/>
          <p:cNvSpPr txBox="1"/>
          <p:nvPr/>
        </p:nvSpPr>
        <p:spPr>
          <a:xfrm>
            <a:off x="6370168" y="2103120"/>
            <a:ext cx="5272888" cy="3931920"/>
          </a:xfrm>
          <a:prstGeom prst="rect">
            <a:avLst/>
          </a:prstGeom>
          <a:noFill/>
          <a:ln/>
        </p:spPr>
        <p:txBody>
          <a:bodyPr wrap="square" lIns="0" tIns="0" rIns="0" bIns="0" rtlCol="0" anchor="t"/>
          <a:lstStyle/>
          <a:p>
            <a:pPr indent="0" marL="0">
              <a:lnSpc>
                <a:spcPct val="125000"/>
              </a:lnSpc>
              <a:buNone/>
            </a:pPr>
            <a:r>
              <a:rPr lang="en-US" sz="1450" dirty="0">
                <a:solidFill>
                  <a:srgbClr val="2B2B2B"/>
                </a:solidFill>
                <a:latin typeface="Calibri" pitchFamily="34" charset="0"/>
                <a:ea typeface="Calibri" pitchFamily="34" charset="-122"/>
                <a:cs typeface="Calibri" pitchFamily="34" charset="-120"/>
              </a:rPr>
              <a:t>Uživatelé nesnáší opakování. Paměť přenáší kontext napříč zprávami i relacemi, takže číslo objednávky ze zprávy dvě je pořád k dispozici i ve zprávě devět.</a:t>
            </a:r>
            <a:endParaRPr lang="en-US" sz="1450" dirty="0"/>
          </a:p>
        </p:txBody>
      </p:sp>
      <p:sp>
        <p:nvSpPr>
          <p:cNvPr id="15" name="Shape 13"/>
          <p:cNvSpPr/>
          <p:nvPr/>
        </p:nvSpPr>
        <p:spPr>
          <a:xfrm>
            <a:off x="9265615" y="5943600"/>
            <a:ext cx="2377440" cy="365760"/>
          </a:xfrm>
          <a:prstGeom prst="roundRect">
            <a:avLst>
              <a:gd name="adj" fmla="val 50000"/>
            </a:avLst>
          </a:prstGeom>
          <a:solidFill>
            <a:srgbClr val="1E2761"/>
          </a:solidFill>
          <a:ln/>
        </p:spPr>
      </p:sp>
      <p:sp>
        <p:nvSpPr>
          <p:cNvPr id="16" name="Text 14"/>
          <p:cNvSpPr txBox="1"/>
          <p:nvPr/>
        </p:nvSpPr>
        <p:spPr>
          <a:xfrm>
            <a:off x="9265615" y="5943600"/>
            <a:ext cx="2377440" cy="36576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PRODUCTION-READY</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141568" y="1645920"/>
            <a:ext cx="5730088" cy="4480560"/>
          </a:xfrm>
          <a:prstGeom prst="roundRect">
            <a:avLst>
              <a:gd name="adj" fmla="val 1633"/>
            </a:avLst>
          </a:prstGeom>
          <a:solidFill>
            <a:srgbClr val="F0F4FC"/>
          </a:solidFill>
          <a:ln/>
        </p:spPr>
      </p:sp>
      <p:sp>
        <p:nvSpPr>
          <p:cNvPr id="3" name="Shape 1"/>
          <p:cNvSpPr/>
          <p:nvPr/>
        </p:nvSpPr>
        <p:spPr>
          <a:xfrm>
            <a:off x="548640" y="502920"/>
            <a:ext cx="822960" cy="822960"/>
          </a:xfrm>
          <a:prstGeom prst="ellipse">
            <a:avLst/>
          </a:prstGeom>
          <a:solidFill>
            <a:srgbClr val="1E2761"/>
          </a:solidFill>
          <a:ln/>
        </p:spPr>
      </p:sp>
      <p:sp>
        <p:nvSpPr>
          <p:cNvPr id="4" name="Text 2"/>
          <p:cNvSpPr txBox="1"/>
          <p:nvPr/>
        </p:nvSpPr>
        <p:spPr>
          <a:xfrm>
            <a:off x="5486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9</a:t>
            </a:r>
            <a:endParaRPr lang="en-US" sz="2600" dirty="0"/>
          </a:p>
        </p:txBody>
      </p:sp>
      <p:sp>
        <p:nvSpPr>
          <p:cNvPr id="5" name="Shape 3"/>
          <p:cNvSpPr/>
          <p:nvPr/>
        </p:nvSpPr>
        <p:spPr>
          <a:xfrm>
            <a:off x="10820095" y="502920"/>
            <a:ext cx="822960" cy="91440"/>
          </a:xfrm>
          <a:prstGeom prst="roundRect">
            <a:avLst>
              <a:gd name="adj" fmla="val 20000"/>
            </a:avLst>
          </a:prstGeom>
          <a:solidFill>
            <a:srgbClr val="CADCFC"/>
          </a:solidFill>
          <a:ln/>
        </p:spPr>
      </p:sp>
      <p:sp>
        <p:nvSpPr>
          <p:cNvPr id="6" name="Shape 4"/>
          <p:cNvSpPr/>
          <p:nvPr/>
        </p:nvSpPr>
        <p:spPr>
          <a:xfrm>
            <a:off x="10902391" y="649224"/>
            <a:ext cx="658368" cy="91440"/>
          </a:xfrm>
          <a:prstGeom prst="roundRect">
            <a:avLst>
              <a:gd name="adj" fmla="val 20000"/>
            </a:avLst>
          </a:prstGeom>
          <a:solidFill>
            <a:srgbClr val="1E2761"/>
          </a:solidFill>
          <a:ln/>
        </p:spPr>
      </p:sp>
      <p:sp>
        <p:nvSpPr>
          <p:cNvPr id="7" name="Shape 5"/>
          <p:cNvSpPr/>
          <p:nvPr/>
        </p:nvSpPr>
        <p:spPr>
          <a:xfrm>
            <a:off x="10984687" y="795528"/>
            <a:ext cx="493776" cy="91440"/>
          </a:xfrm>
          <a:prstGeom prst="roundRect">
            <a:avLst>
              <a:gd name="adj" fmla="val 20000"/>
            </a:avLst>
          </a:prstGeom>
          <a:solidFill>
            <a:srgbClr val="CADCFC"/>
          </a:solidFill>
          <a:ln/>
        </p:spPr>
      </p:sp>
      <p:sp>
        <p:nvSpPr>
          <p:cNvPr id="8" name="Shape 6"/>
          <p:cNvSpPr/>
          <p:nvPr/>
        </p:nvSpPr>
        <p:spPr>
          <a:xfrm>
            <a:off x="11066983" y="941832"/>
            <a:ext cx="329184" cy="91440"/>
          </a:xfrm>
          <a:prstGeom prst="roundRect">
            <a:avLst>
              <a:gd name="adj" fmla="val 20000"/>
            </a:avLst>
          </a:prstGeom>
          <a:solidFill>
            <a:srgbClr val="1E2761"/>
          </a:solidFill>
          <a:ln/>
        </p:spPr>
      </p:sp>
      <p:sp>
        <p:nvSpPr>
          <p:cNvPr id="9" name="Text 7"/>
          <p:cNvSpPr txBox="1"/>
          <p:nvPr/>
        </p:nvSpPr>
        <p:spPr>
          <a:xfrm>
            <a:off x="1600200" y="457200"/>
            <a:ext cx="7772400" cy="50292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Guardrails, access &amp; approval</a:t>
            </a:r>
            <a:endParaRPr lang="en-US" sz="2800" dirty="0"/>
          </a:p>
        </p:txBody>
      </p:sp>
      <p:sp>
        <p:nvSpPr>
          <p:cNvPr id="10" name="Text 8"/>
          <p:cNvSpPr txBox="1"/>
          <p:nvPr/>
        </p:nvSpPr>
        <p:spPr>
          <a:xfrm>
            <a:off x="1600200" y="960120"/>
            <a:ext cx="7772400" cy="365760"/>
          </a:xfrm>
          <a:prstGeom prst="rect">
            <a:avLst/>
          </a:prstGeom>
          <a:noFill/>
          <a:ln/>
        </p:spPr>
        <p:txBody>
          <a:bodyPr wrap="square" lIns="0" tIns="0" rIns="0" bIns="0" rtlCol="0" anchor="ctr"/>
          <a:lstStyle/>
          <a:p>
            <a:pPr indent="0" marL="0">
              <a:buNone/>
            </a:pPr>
            <a:r>
              <a:rPr lang="en-US" sz="1700" i="1" dirty="0">
                <a:solidFill>
                  <a:srgbClr val="5A6B8C"/>
                </a:solidFill>
                <a:latin typeface="Calibri" pitchFamily="34" charset="0"/>
                <a:ea typeface="Calibri" pitchFamily="34" charset="-122"/>
                <a:cs typeface="Calibri" pitchFamily="34" charset="-120"/>
              </a:rPr>
              <a:t>Guardrails, přístup a schválení</a:t>
            </a:r>
            <a:endParaRPr lang="en-US" sz="1700" dirty="0"/>
          </a:p>
        </p:txBody>
      </p:sp>
      <p:sp>
        <p:nvSpPr>
          <p:cNvPr id="11" name="Text 9"/>
          <p:cNvSpPr txBox="1"/>
          <p:nvPr/>
        </p:nvSpPr>
        <p:spPr>
          <a:xfrm>
            <a:off x="548640" y="1783080"/>
            <a:ext cx="5272888" cy="274320"/>
          </a:xfrm>
          <a:prstGeom prst="rect">
            <a:avLst/>
          </a:prstGeom>
          <a:noFill/>
          <a:ln/>
        </p:spPr>
        <p:txBody>
          <a:bodyPr wrap="square" lIns="0" tIns="0" rIns="0" bIns="0" rtlCol="0" anchor="ctr"/>
          <a:lstStyle/>
          <a:p>
            <a:pPr indent="0" marL="0">
              <a:buNone/>
            </a:pPr>
            <a:r>
              <a:rPr lang="en-US" sz="1100" b="1" spc="200" kern="0" dirty="0">
                <a:solidFill>
                  <a:srgbClr val="5A6B8C"/>
                </a:solidFill>
                <a:latin typeface="Calibri" pitchFamily="34" charset="0"/>
                <a:ea typeface="Calibri" pitchFamily="34" charset="-122"/>
                <a:cs typeface="Calibri" pitchFamily="34" charset="-120"/>
              </a:rPr>
              <a:t>ENGLISH</a:t>
            </a:r>
            <a:endParaRPr lang="en-US" sz="1100" dirty="0"/>
          </a:p>
        </p:txBody>
      </p:sp>
      <p:sp>
        <p:nvSpPr>
          <p:cNvPr id="12" name="Text 10"/>
          <p:cNvSpPr txBox="1"/>
          <p:nvPr/>
        </p:nvSpPr>
        <p:spPr>
          <a:xfrm>
            <a:off x="6370168" y="1783080"/>
            <a:ext cx="5272888"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ČESKY</a:t>
            </a:r>
            <a:endParaRPr lang="en-US" sz="1100" dirty="0"/>
          </a:p>
        </p:txBody>
      </p:sp>
      <p:sp>
        <p:nvSpPr>
          <p:cNvPr id="13" name="Text 11"/>
          <p:cNvSpPr txBox="1"/>
          <p:nvPr/>
        </p:nvSpPr>
        <p:spPr>
          <a:xfrm>
            <a:off x="548640" y="2103120"/>
            <a:ext cx="5272888" cy="3931920"/>
          </a:xfrm>
          <a:prstGeom prst="rect">
            <a:avLst/>
          </a:prstGeom>
          <a:noFill/>
          <a:ln/>
        </p:spPr>
        <p:txBody>
          <a:bodyPr wrap="square" lIns="0" tIns="0" rIns="0" bIns="0" rtlCol="0" anchor="t"/>
          <a:lstStyle/>
          <a:p>
            <a:pPr indent="0" marL="0">
              <a:lnSpc>
                <a:spcPct val="125000"/>
              </a:lnSpc>
              <a:buNone/>
            </a:pPr>
            <a:r>
              <a:rPr lang="en-US" sz="1450" dirty="0">
                <a:solidFill>
                  <a:srgbClr val="2B2B2B"/>
                </a:solidFill>
                <a:latin typeface="Calibri" pitchFamily="34" charset="0"/>
                <a:ea typeface="Calibri" pitchFamily="34" charset="-122"/>
                <a:cs typeface="Calibri" pitchFamily="34" charset="-120"/>
              </a:rPr>
              <a:t>It can now move money. Guardrails catch prompt injection hidden in a pasted email and strip card numbers before they reach the model. Access control makes sure the agent only retrieves docs and orders the requesting user is allowed to see. And anything irreversible gets a human sign-off above a threshold, not a silent auto-approve.</a:t>
            </a:r>
            <a:endParaRPr lang="en-US" sz="1450" dirty="0"/>
          </a:p>
        </p:txBody>
      </p:sp>
      <p:sp>
        <p:nvSpPr>
          <p:cNvPr id="14" name="Text 12"/>
          <p:cNvSpPr txBox="1"/>
          <p:nvPr/>
        </p:nvSpPr>
        <p:spPr>
          <a:xfrm>
            <a:off x="6370168" y="2103120"/>
            <a:ext cx="5272888" cy="3931920"/>
          </a:xfrm>
          <a:prstGeom prst="rect">
            <a:avLst/>
          </a:prstGeom>
          <a:noFill/>
          <a:ln/>
        </p:spPr>
        <p:txBody>
          <a:bodyPr wrap="square" lIns="0" tIns="0" rIns="0" bIns="0" rtlCol="0" anchor="t"/>
          <a:lstStyle/>
          <a:p>
            <a:pPr indent="0" marL="0">
              <a:lnSpc>
                <a:spcPct val="125000"/>
              </a:lnSpc>
              <a:buNone/>
            </a:pPr>
            <a:r>
              <a:rPr lang="en-US" sz="1450" dirty="0">
                <a:solidFill>
                  <a:srgbClr val="2B2B2B"/>
                </a:solidFill>
                <a:latin typeface="Calibri" pitchFamily="34" charset="0"/>
                <a:ea typeface="Calibri" pitchFamily="34" charset="-122"/>
                <a:cs typeface="Calibri" pitchFamily="34" charset="-120"/>
              </a:rPr>
              <a:t>Teď už dokáže hýbat penězi. Guardrails odchytí prompt injection skrytý ve vloženém e-mailu a odstraní čísla karet dřív, než se dostanou k modelu. Řízení přístupu zajistí, že agent načte jen dokumenty a objednávky, ke kterým má daný uživatel oprávnění. A cokoliv nevratného vyžaduje nad určitým limitem schválení člověkem, ne tiché automatické schválení.</a:t>
            </a:r>
            <a:endParaRPr lang="en-US" sz="1450" dirty="0"/>
          </a:p>
        </p:txBody>
      </p:sp>
      <p:sp>
        <p:nvSpPr>
          <p:cNvPr id="15" name="Shape 13"/>
          <p:cNvSpPr/>
          <p:nvPr/>
        </p:nvSpPr>
        <p:spPr>
          <a:xfrm>
            <a:off x="9265615" y="5943600"/>
            <a:ext cx="2377440" cy="365760"/>
          </a:xfrm>
          <a:prstGeom prst="roundRect">
            <a:avLst>
              <a:gd name="adj" fmla="val 50000"/>
            </a:avLst>
          </a:prstGeom>
          <a:solidFill>
            <a:srgbClr val="1E2761"/>
          </a:solidFill>
          <a:ln/>
        </p:spPr>
      </p:sp>
      <p:sp>
        <p:nvSpPr>
          <p:cNvPr id="16" name="Text 14"/>
          <p:cNvSpPr txBox="1"/>
          <p:nvPr/>
        </p:nvSpPr>
        <p:spPr>
          <a:xfrm>
            <a:off x="9265615" y="5943600"/>
            <a:ext cx="2377440" cy="36576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PRODUCTION-READY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141568" y="1645920"/>
            <a:ext cx="5730088" cy="4480560"/>
          </a:xfrm>
          <a:prstGeom prst="roundRect">
            <a:avLst>
              <a:gd name="adj" fmla="val 1633"/>
            </a:avLst>
          </a:prstGeom>
          <a:solidFill>
            <a:srgbClr val="F0F4FC"/>
          </a:solidFill>
          <a:ln/>
        </p:spPr>
      </p:sp>
      <p:sp>
        <p:nvSpPr>
          <p:cNvPr id="3" name="Shape 1"/>
          <p:cNvSpPr/>
          <p:nvPr/>
        </p:nvSpPr>
        <p:spPr>
          <a:xfrm>
            <a:off x="548640" y="502920"/>
            <a:ext cx="822960" cy="822960"/>
          </a:xfrm>
          <a:prstGeom prst="ellipse">
            <a:avLst/>
          </a:prstGeom>
          <a:solidFill>
            <a:srgbClr val="1E2761"/>
          </a:solidFill>
          <a:ln/>
        </p:spPr>
      </p:sp>
      <p:sp>
        <p:nvSpPr>
          <p:cNvPr id="4" name="Text 2"/>
          <p:cNvSpPr txBox="1"/>
          <p:nvPr/>
        </p:nvSpPr>
        <p:spPr>
          <a:xfrm>
            <a:off x="548640" y="50292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10</a:t>
            </a:r>
            <a:endParaRPr lang="en-US" sz="2600" dirty="0"/>
          </a:p>
        </p:txBody>
      </p:sp>
      <p:sp>
        <p:nvSpPr>
          <p:cNvPr id="5" name="Shape 3"/>
          <p:cNvSpPr/>
          <p:nvPr/>
        </p:nvSpPr>
        <p:spPr>
          <a:xfrm>
            <a:off x="10820095" y="502920"/>
            <a:ext cx="822960" cy="91440"/>
          </a:xfrm>
          <a:prstGeom prst="roundRect">
            <a:avLst>
              <a:gd name="adj" fmla="val 20000"/>
            </a:avLst>
          </a:prstGeom>
          <a:solidFill>
            <a:srgbClr val="CADCFC"/>
          </a:solidFill>
          <a:ln/>
        </p:spPr>
      </p:sp>
      <p:sp>
        <p:nvSpPr>
          <p:cNvPr id="6" name="Shape 4"/>
          <p:cNvSpPr/>
          <p:nvPr/>
        </p:nvSpPr>
        <p:spPr>
          <a:xfrm>
            <a:off x="10902391" y="649224"/>
            <a:ext cx="658368" cy="91440"/>
          </a:xfrm>
          <a:prstGeom prst="roundRect">
            <a:avLst>
              <a:gd name="adj" fmla="val 20000"/>
            </a:avLst>
          </a:prstGeom>
          <a:solidFill>
            <a:srgbClr val="1E2761"/>
          </a:solidFill>
          <a:ln/>
        </p:spPr>
      </p:sp>
      <p:sp>
        <p:nvSpPr>
          <p:cNvPr id="7" name="Shape 5"/>
          <p:cNvSpPr/>
          <p:nvPr/>
        </p:nvSpPr>
        <p:spPr>
          <a:xfrm>
            <a:off x="10984687" y="795528"/>
            <a:ext cx="493776" cy="91440"/>
          </a:xfrm>
          <a:prstGeom prst="roundRect">
            <a:avLst>
              <a:gd name="adj" fmla="val 20000"/>
            </a:avLst>
          </a:prstGeom>
          <a:solidFill>
            <a:srgbClr val="CADCFC"/>
          </a:solidFill>
          <a:ln/>
        </p:spPr>
      </p:sp>
      <p:sp>
        <p:nvSpPr>
          <p:cNvPr id="8" name="Shape 6"/>
          <p:cNvSpPr/>
          <p:nvPr/>
        </p:nvSpPr>
        <p:spPr>
          <a:xfrm>
            <a:off x="11066983" y="941832"/>
            <a:ext cx="329184" cy="91440"/>
          </a:xfrm>
          <a:prstGeom prst="roundRect">
            <a:avLst>
              <a:gd name="adj" fmla="val 20000"/>
            </a:avLst>
          </a:prstGeom>
          <a:solidFill>
            <a:srgbClr val="1E2761"/>
          </a:solidFill>
          <a:ln/>
        </p:spPr>
      </p:sp>
      <p:sp>
        <p:nvSpPr>
          <p:cNvPr id="9" name="Text 7"/>
          <p:cNvSpPr txBox="1"/>
          <p:nvPr/>
        </p:nvSpPr>
        <p:spPr>
          <a:xfrm>
            <a:off x="1600200" y="457200"/>
            <a:ext cx="7772400" cy="50292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Observability &amp; evals</a:t>
            </a:r>
            <a:endParaRPr lang="en-US" sz="2800" dirty="0"/>
          </a:p>
        </p:txBody>
      </p:sp>
      <p:sp>
        <p:nvSpPr>
          <p:cNvPr id="10" name="Text 8"/>
          <p:cNvSpPr txBox="1"/>
          <p:nvPr/>
        </p:nvSpPr>
        <p:spPr>
          <a:xfrm>
            <a:off x="1600200" y="960120"/>
            <a:ext cx="7772400" cy="365760"/>
          </a:xfrm>
          <a:prstGeom prst="rect">
            <a:avLst/>
          </a:prstGeom>
          <a:noFill/>
          <a:ln/>
        </p:spPr>
        <p:txBody>
          <a:bodyPr wrap="square" lIns="0" tIns="0" rIns="0" bIns="0" rtlCol="0" anchor="ctr"/>
          <a:lstStyle/>
          <a:p>
            <a:pPr indent="0" marL="0">
              <a:buNone/>
            </a:pPr>
            <a:r>
              <a:rPr lang="en-US" sz="1700" i="1" dirty="0">
                <a:solidFill>
                  <a:srgbClr val="5A6B8C"/>
                </a:solidFill>
                <a:latin typeface="Calibri" pitchFamily="34" charset="0"/>
                <a:ea typeface="Calibri" pitchFamily="34" charset="-122"/>
                <a:cs typeface="Calibri" pitchFamily="34" charset="-120"/>
              </a:rPr>
              <a:t>Observabilita a evaly</a:t>
            </a:r>
            <a:endParaRPr lang="en-US" sz="1700" dirty="0"/>
          </a:p>
        </p:txBody>
      </p:sp>
      <p:sp>
        <p:nvSpPr>
          <p:cNvPr id="11" name="Text 9"/>
          <p:cNvSpPr txBox="1"/>
          <p:nvPr/>
        </p:nvSpPr>
        <p:spPr>
          <a:xfrm>
            <a:off x="548640" y="1783080"/>
            <a:ext cx="5272888" cy="274320"/>
          </a:xfrm>
          <a:prstGeom prst="rect">
            <a:avLst/>
          </a:prstGeom>
          <a:noFill/>
          <a:ln/>
        </p:spPr>
        <p:txBody>
          <a:bodyPr wrap="square" lIns="0" tIns="0" rIns="0" bIns="0" rtlCol="0" anchor="ctr"/>
          <a:lstStyle/>
          <a:p>
            <a:pPr indent="0" marL="0">
              <a:buNone/>
            </a:pPr>
            <a:r>
              <a:rPr lang="en-US" sz="1100" b="1" spc="200" kern="0" dirty="0">
                <a:solidFill>
                  <a:srgbClr val="5A6B8C"/>
                </a:solidFill>
                <a:latin typeface="Calibri" pitchFamily="34" charset="0"/>
                <a:ea typeface="Calibri" pitchFamily="34" charset="-122"/>
                <a:cs typeface="Calibri" pitchFamily="34" charset="-120"/>
              </a:rPr>
              <a:t>ENGLISH</a:t>
            </a:r>
            <a:endParaRPr lang="en-US" sz="1100" dirty="0"/>
          </a:p>
        </p:txBody>
      </p:sp>
      <p:sp>
        <p:nvSpPr>
          <p:cNvPr id="12" name="Text 10"/>
          <p:cNvSpPr txBox="1"/>
          <p:nvPr/>
        </p:nvSpPr>
        <p:spPr>
          <a:xfrm>
            <a:off x="6370168" y="1783080"/>
            <a:ext cx="5272888"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ČESKY</a:t>
            </a:r>
            <a:endParaRPr lang="en-US" sz="1100" dirty="0"/>
          </a:p>
        </p:txBody>
      </p:sp>
      <p:sp>
        <p:nvSpPr>
          <p:cNvPr id="13" name="Text 11"/>
          <p:cNvSpPr txBox="1"/>
          <p:nvPr/>
        </p:nvSpPr>
        <p:spPr>
          <a:xfrm>
            <a:off x="548640" y="2103120"/>
            <a:ext cx="5272888" cy="3931920"/>
          </a:xfrm>
          <a:prstGeom prst="rect">
            <a:avLst/>
          </a:prstGeom>
          <a:noFill/>
          <a:ln/>
        </p:spPr>
        <p:txBody>
          <a:bodyPr wrap="square" lIns="0" tIns="0" rIns="0" bIns="0" rtlCol="0" anchor="t"/>
          <a:lstStyle/>
          <a:p>
            <a:pPr indent="0" marL="0">
              <a:lnSpc>
                <a:spcPct val="125000"/>
              </a:lnSpc>
              <a:buNone/>
            </a:pPr>
            <a:r>
              <a:rPr lang="en-US" sz="1450" dirty="0">
                <a:solidFill>
                  <a:srgbClr val="2B2B2B"/>
                </a:solidFill>
                <a:latin typeface="Calibri" pitchFamily="34" charset="0"/>
                <a:ea typeface="Calibri" pitchFamily="34" charset="-122"/>
                <a:cs typeface="Calibri" pitchFamily="34" charset="-120"/>
              </a:rPr>
              <a:t>You can't fix what you can't see. Traces and token cost per request tell you what happened in production; eval scores against a fixed test set tell you whether the last change made things better or worse before you ship it.</a:t>
            </a:r>
            <a:endParaRPr lang="en-US" sz="1450" dirty="0"/>
          </a:p>
        </p:txBody>
      </p:sp>
      <p:sp>
        <p:nvSpPr>
          <p:cNvPr id="14" name="Text 12"/>
          <p:cNvSpPr txBox="1"/>
          <p:nvPr/>
        </p:nvSpPr>
        <p:spPr>
          <a:xfrm>
            <a:off x="6370168" y="2103120"/>
            <a:ext cx="5272888" cy="3931920"/>
          </a:xfrm>
          <a:prstGeom prst="rect">
            <a:avLst/>
          </a:prstGeom>
          <a:noFill/>
          <a:ln/>
        </p:spPr>
        <p:txBody>
          <a:bodyPr wrap="square" lIns="0" tIns="0" rIns="0" bIns="0" rtlCol="0" anchor="t"/>
          <a:lstStyle/>
          <a:p>
            <a:pPr indent="0" marL="0">
              <a:lnSpc>
                <a:spcPct val="125000"/>
              </a:lnSpc>
              <a:buNone/>
            </a:pPr>
            <a:r>
              <a:rPr lang="en-US" sz="1450" dirty="0">
                <a:solidFill>
                  <a:srgbClr val="2B2B2B"/>
                </a:solidFill>
                <a:latin typeface="Calibri" pitchFamily="34" charset="0"/>
                <a:ea typeface="Calibri" pitchFamily="34" charset="-122"/>
                <a:cs typeface="Calibri" pitchFamily="34" charset="-120"/>
              </a:rPr>
              <a:t>Nemůžete opravit to, co nevidíte. Trasování (traces) a náklady na tokeny za požadavek ukazují, co se stalo v provozu; eval skóre na pevné testovací sadě ukazuje, jestli poslední změna věci zlepšila nebo zhoršila – ještě než ji nasadíte.</a:t>
            </a:r>
            <a:endParaRPr lang="en-US" sz="1450" dirty="0"/>
          </a:p>
        </p:txBody>
      </p:sp>
      <p:sp>
        <p:nvSpPr>
          <p:cNvPr id="15" name="Shape 13"/>
          <p:cNvSpPr/>
          <p:nvPr/>
        </p:nvSpPr>
        <p:spPr>
          <a:xfrm>
            <a:off x="9265615" y="5943600"/>
            <a:ext cx="2377440" cy="365760"/>
          </a:xfrm>
          <a:prstGeom prst="roundRect">
            <a:avLst>
              <a:gd name="adj" fmla="val 50000"/>
            </a:avLst>
          </a:prstGeom>
          <a:solidFill>
            <a:srgbClr val="1E2761"/>
          </a:solidFill>
          <a:ln/>
        </p:spPr>
      </p:sp>
      <p:sp>
        <p:nvSpPr>
          <p:cNvPr id="16" name="Text 14"/>
          <p:cNvSpPr txBox="1"/>
          <p:nvPr/>
        </p:nvSpPr>
        <p:spPr>
          <a:xfrm>
            <a:off x="9265615" y="5943600"/>
            <a:ext cx="2377440" cy="36576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PRODUCTION-READY</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548640"/>
            <a:ext cx="1920240" cy="411480"/>
          </a:xfrm>
          <a:prstGeom prst="roundRect">
            <a:avLst>
              <a:gd name="adj" fmla="val 17778"/>
            </a:avLst>
          </a:prstGeom>
          <a:solidFill>
            <a:srgbClr val="CADCFC"/>
          </a:solidFill>
          <a:ln/>
        </p:spPr>
      </p:sp>
      <p:sp>
        <p:nvSpPr>
          <p:cNvPr id="3" name="Shape 1"/>
          <p:cNvSpPr/>
          <p:nvPr/>
        </p:nvSpPr>
        <p:spPr>
          <a:xfrm>
            <a:off x="548640" y="1078992"/>
            <a:ext cx="2560320" cy="411480"/>
          </a:xfrm>
          <a:prstGeom prst="roundRect">
            <a:avLst>
              <a:gd name="adj" fmla="val 17778"/>
            </a:avLst>
          </a:prstGeom>
          <a:solidFill>
            <a:srgbClr val="6E86D6"/>
          </a:solidFill>
          <a:ln/>
        </p:spPr>
      </p:sp>
      <p:sp>
        <p:nvSpPr>
          <p:cNvPr id="4" name="Shape 2"/>
          <p:cNvSpPr/>
          <p:nvPr/>
        </p:nvSpPr>
        <p:spPr>
          <a:xfrm>
            <a:off x="548640" y="1609344"/>
            <a:ext cx="3200400" cy="411480"/>
          </a:xfrm>
          <a:prstGeom prst="roundRect">
            <a:avLst>
              <a:gd name="adj" fmla="val 17778"/>
            </a:avLst>
          </a:prstGeom>
          <a:solidFill>
            <a:srgbClr val="3A4DB0"/>
          </a:solidFill>
          <a:ln/>
        </p:spPr>
      </p:sp>
      <p:sp>
        <p:nvSpPr>
          <p:cNvPr id="5" name="Shape 3"/>
          <p:cNvSpPr/>
          <p:nvPr/>
        </p:nvSpPr>
        <p:spPr>
          <a:xfrm>
            <a:off x="548640" y="2139696"/>
            <a:ext cx="3840480" cy="411480"/>
          </a:xfrm>
          <a:prstGeom prst="roundRect">
            <a:avLst>
              <a:gd name="adj" fmla="val 17778"/>
            </a:avLst>
          </a:prstGeom>
          <a:solidFill>
            <a:srgbClr val="2A3A8F"/>
          </a:solidFill>
          <a:ln/>
        </p:spPr>
      </p:sp>
      <p:sp>
        <p:nvSpPr>
          <p:cNvPr id="6" name="Text 4"/>
          <p:cNvSpPr txBox="1"/>
          <p:nvPr/>
        </p:nvSpPr>
        <p:spPr>
          <a:xfrm>
            <a:off x="548640" y="3063240"/>
            <a:ext cx="5272888" cy="274320"/>
          </a:xfrm>
          <a:prstGeom prst="rect">
            <a:avLst/>
          </a:prstGeom>
          <a:noFill/>
          <a:ln/>
        </p:spPr>
        <p:txBody>
          <a:bodyPr wrap="square" lIns="0" tIns="0" rIns="0" bIns="0" rtlCol="0" anchor="ctr"/>
          <a:lstStyle/>
          <a:p>
            <a:pPr indent="0" marL="0">
              <a:buNone/>
            </a:pPr>
            <a:r>
              <a:rPr lang="en-US" sz="1100" b="1" spc="200" kern="0" dirty="0">
                <a:solidFill>
                  <a:srgbClr val="9FB3DE"/>
                </a:solidFill>
                <a:latin typeface="Calibri" pitchFamily="34" charset="0"/>
                <a:ea typeface="Calibri" pitchFamily="34" charset="-122"/>
                <a:cs typeface="Calibri" pitchFamily="34" charset="-120"/>
              </a:rPr>
              <a:t>ENGLISH</a:t>
            </a:r>
            <a:endParaRPr lang="en-US" sz="1100" dirty="0"/>
          </a:p>
        </p:txBody>
      </p:sp>
      <p:sp>
        <p:nvSpPr>
          <p:cNvPr id="7" name="Text 5"/>
          <p:cNvSpPr txBox="1"/>
          <p:nvPr/>
        </p:nvSpPr>
        <p:spPr>
          <a:xfrm>
            <a:off x="6370168" y="3063240"/>
            <a:ext cx="5272888" cy="274320"/>
          </a:xfrm>
          <a:prstGeom prst="rect">
            <a:avLst/>
          </a:prstGeom>
          <a:noFill/>
          <a:ln/>
        </p:spPr>
        <p:txBody>
          <a:bodyPr wrap="square" lIns="0" tIns="0" rIns="0" bIns="0" rtlCol="0" anchor="ctr"/>
          <a:lstStyle/>
          <a:p>
            <a:pPr indent="0" marL="0">
              <a:buNone/>
            </a:pPr>
            <a:r>
              <a:rPr lang="en-US" sz="1100" b="1" spc="200" kern="0" dirty="0">
                <a:solidFill>
                  <a:srgbClr val="CADCFC"/>
                </a:solidFill>
                <a:latin typeface="Calibri" pitchFamily="34" charset="0"/>
                <a:ea typeface="Calibri" pitchFamily="34" charset="-122"/>
                <a:cs typeface="Calibri" pitchFamily="34" charset="-120"/>
              </a:rPr>
              <a:t>ČESKY</a:t>
            </a:r>
            <a:endParaRPr lang="en-US" sz="1100" dirty="0"/>
          </a:p>
        </p:txBody>
      </p:sp>
      <p:sp>
        <p:nvSpPr>
          <p:cNvPr id="8" name="Text 6"/>
          <p:cNvSpPr txBox="1"/>
          <p:nvPr/>
        </p:nvSpPr>
        <p:spPr>
          <a:xfrm>
            <a:off x="548640" y="3383280"/>
            <a:ext cx="5272888" cy="2926080"/>
          </a:xfrm>
          <a:prstGeom prst="rect">
            <a:avLst/>
          </a:prstGeom>
          <a:noFill/>
          <a:ln/>
        </p:spPr>
        <p:txBody>
          <a:bodyPr wrap="square" lIns="0" tIns="0" rIns="0" bIns="0" rtlCol="0" anchor="ctr"/>
          <a:lstStyle/>
          <a:p>
            <a:pPr indent="0" marL="0">
              <a:lnSpc>
                <a:spcPct val="130000"/>
              </a:lnSpc>
              <a:buNone/>
            </a:pPr>
            <a:r>
              <a:rPr lang="en-US" sz="1500" dirty="0">
                <a:solidFill>
                  <a:srgbClr val="FFFFFF"/>
                </a:solidFill>
                <a:latin typeface="Calibri" pitchFamily="34" charset="0"/>
                <a:ea typeface="Calibri" pitchFamily="34" charset="-122"/>
                <a:cs typeface="Calibri" pitchFamily="34" charset="-120"/>
              </a:rPr>
              <a:t>Layers 1 to 4 get you a demo in a weekend.</a:t>
            </a:r>
            <a:endParaRPr lang="en-US" sz="1500" dirty="0"/>
          </a:p>
          <a:p>
            <a:pPr indent="0" marL="0">
              <a:lnSpc>
                <a:spcPct val="130000"/>
              </a:lnSpc>
              <a:buNone/>
            </a:pPr>
            <a:endParaRPr lang="en-US" sz="1500" dirty="0"/>
          </a:p>
          <a:p>
            <a:pPr indent="0" marL="0">
              <a:lnSpc>
                <a:spcPct val="130000"/>
              </a:lnSpc>
              <a:buNone/>
            </a:pPr>
            <a:r>
              <a:rPr lang="en-US" sz="1500" dirty="0">
                <a:solidFill>
                  <a:srgbClr val="FFFFFF"/>
                </a:solidFill>
                <a:latin typeface="Calibri" pitchFamily="34" charset="0"/>
                <a:ea typeface="Calibri" pitchFamily="34" charset="-122"/>
                <a:cs typeface="Calibri" pitchFamily="34" charset="-120"/>
              </a:rPr>
              <a:t>Layers 5 to 10 decide whether it survives Monday.</a:t>
            </a:r>
            <a:endParaRPr lang="en-US" sz="1500" dirty="0"/>
          </a:p>
          <a:p>
            <a:pPr indent="0" marL="0">
              <a:lnSpc>
                <a:spcPct val="130000"/>
              </a:lnSpc>
              <a:buNone/>
            </a:pPr>
            <a:endParaRPr lang="en-US" sz="1500" dirty="0"/>
          </a:p>
          <a:p>
            <a:pPr indent="0" marL="0">
              <a:lnSpc>
                <a:spcPct val="130000"/>
              </a:lnSpc>
              <a:buNone/>
            </a:pPr>
            <a:r>
              <a:rPr lang="en-US" sz="1500" dirty="0">
                <a:solidFill>
                  <a:srgbClr val="FFFFFF"/>
                </a:solidFill>
                <a:latin typeface="Calibri" pitchFamily="34" charset="0"/>
                <a:ea typeface="Calibri" pitchFamily="34" charset="-122"/>
                <a:cs typeface="Calibri" pitchFamily="34" charset="-120"/>
              </a:rPr>
              <a:t>Most AI projects don't fail at the model. They fail because the last six layers were treated as optional.</a:t>
            </a:r>
            <a:endParaRPr lang="en-US" sz="1500" dirty="0"/>
          </a:p>
        </p:txBody>
      </p:sp>
      <p:sp>
        <p:nvSpPr>
          <p:cNvPr id="9" name="Text 7"/>
          <p:cNvSpPr txBox="1"/>
          <p:nvPr/>
        </p:nvSpPr>
        <p:spPr>
          <a:xfrm>
            <a:off x="6370168" y="3383280"/>
            <a:ext cx="5272888" cy="2926080"/>
          </a:xfrm>
          <a:prstGeom prst="rect">
            <a:avLst/>
          </a:prstGeom>
          <a:noFill/>
          <a:ln/>
        </p:spPr>
        <p:txBody>
          <a:bodyPr wrap="square" lIns="0" tIns="0" rIns="0" bIns="0" rtlCol="0" anchor="ctr"/>
          <a:lstStyle/>
          <a:p>
            <a:pPr indent="0" marL="0">
              <a:lnSpc>
                <a:spcPct val="130000"/>
              </a:lnSpc>
              <a:buNone/>
            </a:pPr>
            <a:r>
              <a:rPr lang="en-US" sz="1500" dirty="0">
                <a:solidFill>
                  <a:srgbClr val="CADCFC"/>
                </a:solidFill>
                <a:latin typeface="Calibri" pitchFamily="34" charset="0"/>
                <a:ea typeface="Calibri" pitchFamily="34" charset="-122"/>
                <a:cs typeface="Calibri" pitchFamily="34" charset="-120"/>
              </a:rPr>
              <a:t>Vrstvy 1 až 4 vám za víkend dají demo.</a:t>
            </a:r>
            <a:endParaRPr lang="en-US" sz="1500" dirty="0"/>
          </a:p>
          <a:p>
            <a:pPr indent="0" marL="0">
              <a:lnSpc>
                <a:spcPct val="130000"/>
              </a:lnSpc>
              <a:buNone/>
            </a:pPr>
            <a:endParaRPr lang="en-US" sz="1500" dirty="0"/>
          </a:p>
          <a:p>
            <a:pPr indent="0" marL="0">
              <a:lnSpc>
                <a:spcPct val="130000"/>
              </a:lnSpc>
              <a:buNone/>
            </a:pPr>
            <a:r>
              <a:rPr lang="en-US" sz="1500" dirty="0">
                <a:solidFill>
                  <a:srgbClr val="CADCFC"/>
                </a:solidFill>
                <a:latin typeface="Calibri" pitchFamily="34" charset="0"/>
                <a:ea typeface="Calibri" pitchFamily="34" charset="-122"/>
                <a:cs typeface="Calibri" pitchFamily="34" charset="-120"/>
              </a:rPr>
              <a:t>Vrstvy 5 až 10 rozhodnou, jestli to přežije pondělí.</a:t>
            </a:r>
            <a:endParaRPr lang="en-US" sz="1500" dirty="0"/>
          </a:p>
          <a:p>
            <a:pPr indent="0" marL="0">
              <a:lnSpc>
                <a:spcPct val="130000"/>
              </a:lnSpc>
              <a:buNone/>
            </a:pPr>
            <a:endParaRPr lang="en-US" sz="1500" dirty="0"/>
          </a:p>
          <a:p>
            <a:pPr indent="0" marL="0">
              <a:lnSpc>
                <a:spcPct val="130000"/>
              </a:lnSpc>
              <a:buNone/>
            </a:pPr>
            <a:r>
              <a:rPr lang="en-US" sz="1500" dirty="0">
                <a:solidFill>
                  <a:srgbClr val="CADCFC"/>
                </a:solidFill>
                <a:latin typeface="Calibri" pitchFamily="34" charset="0"/>
                <a:ea typeface="Calibri" pitchFamily="34" charset="-122"/>
                <a:cs typeface="Calibri" pitchFamily="34" charset="-120"/>
              </a:rPr>
              <a:t>Většina AI projektů neselže na modelu. Selžou proto, že posledních šest vrstev bylo považováno za volitelné.</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 Layers of a Production AI Assistant / 10 vrstev produkčního AI asistenta</dc:title>
  <dc:subject>PptxGenJS Presentation</dc:subject>
  <dc:creator>Dušan</dc:creator>
  <cp:lastModifiedBy>Dušan</cp:lastModifiedBy>
  <cp:revision>1</cp:revision>
  <dcterms:created xsi:type="dcterms:W3CDTF">2026-09-14T10:13:54Z</dcterms:created>
  <dcterms:modified xsi:type="dcterms:W3CDTF">2026-09-14T10:13:54Z</dcterms:modified>
</cp:coreProperties>
</file>