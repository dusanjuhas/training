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AI project can now touch ten layers of tooling, from data processing to AI agents. This deck gives one slide per library: its purpose and a minimal code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ten layers, left to right, roughly follow a project's lifecycle: prepare data, train models, track experiments, visualize, serve, orchestrate, validate, protect, and finally build agents on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logo file for Comet was available when this deck was built, so a neutral icon stands in. Replace it with the official logo if you have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logo file for Evidently was available when this deck was built, so a neutral icon stands in. The code uses the current Evidently API (version 0.7 and later); older versions import Report from evidently.report.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PySyft's API has changed considerably between releases. This sample follows the 0.9 series; check the version you install against the OpenMined docs.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PydanticAI shares the Pydantic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thought: nobody needs all 34 libraries on day one. Pick one per layer that the team already knows, and add tools as concrete needs 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092961"/>
            <a:ext cx="381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900681"/>
            <a:ext cx="10566400" cy="3144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2092961"/>
            <a:ext cx="381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900681"/>
            <a:ext cx="10566400" cy="3144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ai_project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4920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Python AI Stack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800" y="2401570"/>
            <a:ext cx="850265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B9C2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34 libraries across the 10 layers a single AI project can touch: what each one is for, with a minimal code sample.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5156200"/>
            <a:ext cx="889000" cy="889000"/>
          </a:xfrm>
          <a:prstGeom prst="roundRect">
            <a:avLst>
              <a:gd name="adj" fmla="val 14286"/>
            </a:avLst>
          </a:prstGeom>
          <a:solidFill>
            <a:srgbClr val="F5F3EE"/>
          </a:solidFill>
          <a:ln/>
        </p:spPr>
      </p:sp>
      <p:pic>
        <p:nvPicPr>
          <p:cNvPr id="6" name="Image 0" descr="NumPy logo">    </p:cNvPr>
          <p:cNvPicPr>
            <a:picLocks noChangeAspect="1"/>
          </p:cNvPicPr>
          <p:nvPr/>
        </p:nvPicPr>
        <p:blipFill>
          <a:blip r:embed="rId1"/>
          <a:srcRect l="-3097" r="-3097" t="0" b="0"/>
          <a:stretch/>
        </p:blipFill>
        <p:spPr>
          <a:xfrm>
            <a:off x="965200" y="5308600"/>
            <a:ext cx="584200" cy="584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41500" y="5156200"/>
            <a:ext cx="889000" cy="889000"/>
          </a:xfrm>
          <a:prstGeom prst="roundRect">
            <a:avLst>
              <a:gd name="adj" fmla="val 14286"/>
            </a:avLst>
          </a:prstGeom>
          <a:solidFill>
            <a:srgbClr val="F5F3EE"/>
          </a:solidFill>
          <a:ln/>
        </p:spPr>
      </p:sp>
      <p:pic>
        <p:nvPicPr>
          <p:cNvPr id="8" name="Image 1" descr="Scikit-learn logo">    </p:cNvPr>
          <p:cNvPicPr>
            <a:picLocks noChangeAspect="1"/>
          </p:cNvPicPr>
          <p:nvPr/>
        </p:nvPicPr>
        <p:blipFill>
          <a:blip r:embed="rId2"/>
          <a:srcRect l="0" r="0" t="-42308" b="-42308"/>
          <a:stretch/>
        </p:blipFill>
        <p:spPr>
          <a:xfrm>
            <a:off x="1993900" y="5308600"/>
            <a:ext cx="584200" cy="584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870200" y="5156200"/>
            <a:ext cx="889000" cy="889000"/>
          </a:xfrm>
          <a:prstGeom prst="roundRect">
            <a:avLst>
              <a:gd name="adj" fmla="val 14286"/>
            </a:avLst>
          </a:prstGeom>
          <a:solidFill>
            <a:srgbClr val="F5F3EE"/>
          </a:solidFill>
          <a:ln/>
        </p:spPr>
      </p:sp>
      <p:pic>
        <p:nvPicPr>
          <p:cNvPr id="10" name="Image 2" descr="PyTorch logo">    </p:cNvPr>
          <p:cNvPicPr>
            <a:picLocks noChangeAspect="1"/>
          </p:cNvPicPr>
          <p:nvPr/>
        </p:nvPicPr>
        <p:blipFill>
          <a:blip r:embed="rId3"/>
          <a:srcRect l="-10000" r="-10000" t="0" b="0"/>
          <a:stretch/>
        </p:blipFill>
        <p:spPr>
          <a:xfrm>
            <a:off x="3022600" y="5308600"/>
            <a:ext cx="584200" cy="584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898900" y="5156200"/>
            <a:ext cx="889000" cy="889000"/>
          </a:xfrm>
          <a:prstGeom prst="roundRect">
            <a:avLst>
              <a:gd name="adj" fmla="val 14286"/>
            </a:avLst>
          </a:prstGeom>
          <a:solidFill>
            <a:srgbClr val="F5F3EE"/>
          </a:solidFill>
          <a:ln/>
        </p:spPr>
      </p:sp>
      <p:pic>
        <p:nvPicPr>
          <p:cNvPr id="12" name="Image 3" descr="MLflow logo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051300" y="5308600"/>
            <a:ext cx="584200" cy="5842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927600" y="5156200"/>
            <a:ext cx="889000" cy="889000"/>
          </a:xfrm>
          <a:prstGeom prst="roundRect">
            <a:avLst>
              <a:gd name="adj" fmla="val 14286"/>
            </a:avLst>
          </a:prstGeom>
          <a:solidFill>
            <a:srgbClr val="F5F3EE"/>
          </a:solidFill>
          <a:ln/>
        </p:spPr>
      </p:sp>
      <p:pic>
        <p:nvPicPr>
          <p:cNvPr id="14" name="Image 4" descr="Plotly logo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80000" y="5308600"/>
            <a:ext cx="584200" cy="58420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5956300" y="5156200"/>
            <a:ext cx="889000" cy="889000"/>
          </a:xfrm>
          <a:prstGeom prst="roundRect">
            <a:avLst>
              <a:gd name="adj" fmla="val 14286"/>
            </a:avLst>
          </a:prstGeom>
          <a:solidFill>
            <a:srgbClr val="F5F3EE"/>
          </a:solidFill>
          <a:ln/>
        </p:spPr>
      </p:sp>
      <p:pic>
        <p:nvPicPr>
          <p:cNvPr id="16" name="Image 5" descr="FastAPI logo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08700" y="5308600"/>
            <a:ext cx="584200" cy="58420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6985000" y="5156200"/>
            <a:ext cx="889000" cy="889000"/>
          </a:xfrm>
          <a:prstGeom prst="roundRect">
            <a:avLst>
              <a:gd name="adj" fmla="val 14286"/>
            </a:avLst>
          </a:prstGeom>
          <a:solidFill>
            <a:srgbClr val="F5F3EE"/>
          </a:solidFill>
          <a:ln/>
        </p:spPr>
      </p:sp>
      <p:pic>
        <p:nvPicPr>
          <p:cNvPr id="18" name="Image 6" descr="Apache Airflow logo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137400" y="5308600"/>
            <a:ext cx="584200" cy="58420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8013700" y="5156200"/>
            <a:ext cx="889000" cy="889000"/>
          </a:xfrm>
          <a:prstGeom prst="roundRect">
            <a:avLst>
              <a:gd name="adj" fmla="val 14286"/>
            </a:avLst>
          </a:prstGeom>
          <a:solidFill>
            <a:srgbClr val="F5F3EE"/>
          </a:solidFill>
          <a:ln/>
        </p:spPr>
      </p:sp>
      <p:pic>
        <p:nvPicPr>
          <p:cNvPr id="20" name="Image 7" descr="Great Expectations logo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66100" y="5308600"/>
            <a:ext cx="584200" cy="584200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9042400" y="5156200"/>
            <a:ext cx="889000" cy="889000"/>
          </a:xfrm>
          <a:prstGeom prst="roundRect">
            <a:avLst>
              <a:gd name="adj" fmla="val 14286"/>
            </a:avLst>
          </a:prstGeom>
          <a:solidFill>
            <a:srgbClr val="F5F3EE"/>
          </a:solidFill>
          <a:ln/>
        </p:spPr>
      </p:sp>
      <p:pic>
        <p:nvPicPr>
          <p:cNvPr id="22" name="Image 8" descr="Presidio logo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9194800" y="5308600"/>
            <a:ext cx="584200" cy="584200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10071100" y="5156200"/>
            <a:ext cx="889000" cy="889000"/>
          </a:xfrm>
          <a:prstGeom prst="roundRect">
            <a:avLst>
              <a:gd name="adj" fmla="val 14286"/>
            </a:avLst>
          </a:prstGeom>
          <a:solidFill>
            <a:srgbClr val="F5F3EE"/>
          </a:solidFill>
          <a:ln/>
        </p:spPr>
      </p:sp>
      <p:pic>
        <p:nvPicPr>
          <p:cNvPr id="24" name="Image 9" descr="LangChain logo">    </p:cNvPr>
          <p:cNvPicPr>
            <a:picLocks noChangeAspect="1"/>
          </p:cNvPicPr>
          <p:nvPr/>
        </p:nvPicPr>
        <p:blipFill>
          <a:blip r:embed="rId10"/>
          <a:srcRect l="-18182" r="-18182" t="0" b="0"/>
          <a:stretch/>
        </p:blipFill>
        <p:spPr>
          <a:xfrm>
            <a:off x="10223500" y="5308600"/>
            <a:ext cx="5842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LANDSCAPE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6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AI project, ten layers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89455"/>
            <a:ext cx="1985010" cy="1609090"/>
          </a:xfrm>
          <a:prstGeom prst="roundRect">
            <a:avLst>
              <a:gd name="adj" fmla="val 6117"/>
            </a:avLst>
          </a:prstGeom>
          <a:solidFill>
            <a:srgbClr val="FBFAF7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2169160"/>
            <a:ext cx="1676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680" y="2458720"/>
            <a:ext cx="167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processing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5680" y="2763520"/>
            <a:ext cx="1676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NumPy, Pandas, Polars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59735" y="1989455"/>
            <a:ext cx="1985010" cy="1609090"/>
          </a:xfrm>
          <a:prstGeom prst="roundRect">
            <a:avLst>
              <a:gd name="adj" fmla="val 6117"/>
            </a:avLst>
          </a:prstGeom>
          <a:solidFill>
            <a:srgbClr val="FBFAF7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9440" y="2169160"/>
            <a:ext cx="1676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39440" y="2458720"/>
            <a:ext cx="167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39440" y="2763520"/>
            <a:ext cx="16764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Scikit-learn, XGBoost, LightGBM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03495" y="1989455"/>
            <a:ext cx="1985010" cy="1609090"/>
          </a:xfrm>
          <a:prstGeom prst="roundRect">
            <a:avLst>
              <a:gd name="adj" fmla="val 6117"/>
            </a:avLst>
          </a:prstGeom>
          <a:solidFill>
            <a:srgbClr val="FBFAF7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3200" y="2169160"/>
            <a:ext cx="1676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83200" y="2458720"/>
            <a:ext cx="167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83200" y="2763520"/>
            <a:ext cx="16764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PyTorch, TensorFlow, JAX, Keras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47255" y="1989455"/>
            <a:ext cx="1985010" cy="1609090"/>
          </a:xfrm>
          <a:prstGeom prst="roundRect">
            <a:avLst>
              <a:gd name="adj" fmla="val 6117"/>
            </a:avLst>
          </a:prstGeom>
          <a:solidFill>
            <a:srgbClr val="FBFAF7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6960" y="2169160"/>
            <a:ext cx="1676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26960" y="2458720"/>
            <a:ext cx="167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 tracking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26960" y="2992120"/>
            <a:ext cx="16764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MLflow, Weights &amp; Biases, Comet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91015" y="1989455"/>
            <a:ext cx="1985010" cy="1609090"/>
          </a:xfrm>
          <a:prstGeom prst="roundRect">
            <a:avLst>
              <a:gd name="adj" fmla="val 6117"/>
            </a:avLst>
          </a:prstGeom>
          <a:solidFill>
            <a:srgbClr val="FBFAF7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70720" y="2169160"/>
            <a:ext cx="1676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70720" y="2458720"/>
            <a:ext cx="167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70720" y="2763520"/>
            <a:ext cx="16764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Matplotlib, Seaborn, Plotly, Altair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975" y="3757295"/>
            <a:ext cx="1985010" cy="1395730"/>
          </a:xfrm>
          <a:prstGeom prst="roundRect">
            <a:avLst>
              <a:gd name="adj" fmla="val 7052"/>
            </a:avLst>
          </a:prstGeom>
          <a:solidFill>
            <a:srgbClr val="FBFAF7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5680" y="3937000"/>
            <a:ext cx="1676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95680" y="4226560"/>
            <a:ext cx="167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serving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5680" y="4531360"/>
            <a:ext cx="16764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FastAPI, BentoML, Gradio, Streamlit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59735" y="3757295"/>
            <a:ext cx="1985010" cy="1395730"/>
          </a:xfrm>
          <a:prstGeom prst="roundRect">
            <a:avLst>
              <a:gd name="adj" fmla="val 7052"/>
            </a:avLst>
          </a:prstGeom>
          <a:solidFill>
            <a:srgbClr val="FBFAF7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39440" y="3937000"/>
            <a:ext cx="1676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39440" y="4226560"/>
            <a:ext cx="167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139440" y="4531360"/>
            <a:ext cx="16764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Airflow, Prefect, Kubeflow, Dagster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03495" y="3757295"/>
            <a:ext cx="1985010" cy="1395730"/>
          </a:xfrm>
          <a:prstGeom prst="roundRect">
            <a:avLst>
              <a:gd name="adj" fmla="val 7052"/>
            </a:avLst>
          </a:prstGeom>
          <a:solidFill>
            <a:srgbClr val="FBFAF7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83200" y="3937000"/>
            <a:ext cx="1676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83200" y="4226560"/>
            <a:ext cx="167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validation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283200" y="4531360"/>
            <a:ext cx="16764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Great Expectations, Evidently, Deepchecks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47255" y="3757295"/>
            <a:ext cx="1985010" cy="1395730"/>
          </a:xfrm>
          <a:prstGeom prst="roundRect">
            <a:avLst>
              <a:gd name="adj" fmla="val 7052"/>
            </a:avLst>
          </a:prstGeom>
          <a:solidFill>
            <a:srgbClr val="FBFAF7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26960" y="3937000"/>
            <a:ext cx="1676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26960" y="4226560"/>
            <a:ext cx="1676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Privacy and security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426960" y="4759960"/>
            <a:ext cx="1676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Presidio, PySyft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391015" y="3757295"/>
            <a:ext cx="1985010" cy="1395730"/>
          </a:xfrm>
          <a:prstGeom prst="roundRect">
            <a:avLst>
              <a:gd name="adj" fmla="val 7052"/>
            </a:avLst>
          </a:prstGeom>
          <a:solidFill>
            <a:srgbClr val="FBFAF7"/>
          </a:solidFill>
          <a:ln w="6350">
            <a:solidFill>
              <a:srgbClr val="E2DCC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70720" y="3937000"/>
            <a:ext cx="1676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5B0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570720" y="4226560"/>
            <a:ext cx="167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agents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570720" y="4531360"/>
            <a:ext cx="16764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LangGraph, LangChain, PydanticAI, CrewAI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 / 10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968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processing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202180"/>
            <a:ext cx="850265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2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Load, clean, reshape and compute on data before any model sees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6" name="Image 0" descr="NumPy logo">    </p:cNvPr>
          <p:cNvPicPr>
            <a:picLocks noChangeAspect="1"/>
          </p:cNvPicPr>
          <p:nvPr/>
        </p:nvPicPr>
        <p:blipFill>
          <a:blip r:embed="rId1"/>
          <a:srcRect l="-107168" r="-107168" t="0" b="0"/>
          <a:stretch/>
        </p:blipFill>
        <p:spPr>
          <a:xfrm>
            <a:off x="1016000" y="4813300"/>
            <a:ext cx="1879600" cy="63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1752" y="5575300"/>
            <a:ext cx="7680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NumPy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020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9" name="Image 1" descr="Pandas logo">    </p:cNvPr>
          <p:cNvPicPr>
            <a:picLocks noChangeAspect="1"/>
          </p:cNvPicPr>
          <p:nvPr/>
        </p:nvPicPr>
        <p:blipFill>
          <a:blip r:embed="rId2"/>
          <a:srcRect l="-183684" r="-183684" t="0" b="0"/>
          <a:stretch/>
        </p:blipFill>
        <p:spPr>
          <a:xfrm>
            <a:off x="3505200" y="4813300"/>
            <a:ext cx="1879600" cy="635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52665" y="5575300"/>
            <a:ext cx="78466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Pandas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7912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12" name="Image 2" descr="Polars logo">    </p:cNvPr>
          <p:cNvPicPr>
            <a:picLocks noChangeAspect="1"/>
          </p:cNvPicPr>
          <p:nvPr/>
        </p:nvPicPr>
        <p:blipFill>
          <a:blip r:embed="rId3"/>
          <a:srcRect l="-24000" r="-24000" t="0" b="0"/>
          <a:stretch/>
        </p:blipFill>
        <p:spPr>
          <a:xfrm>
            <a:off x="5994400" y="4813300"/>
            <a:ext cx="1879600" cy="63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99396" y="5575300"/>
            <a:ext cx="66960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Polars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DATA PROCESSING</a:t>
            </a:r>
            <a:endParaRPr lang="en-US" sz="1200" dirty="0"/>
          </a:p>
        </p:txBody>
      </p:sp>
      <p:pic>
        <p:nvPicPr>
          <p:cNvPr id="3" name="Image 0" descr="NumPy logo">    </p:cNvPr>
          <p:cNvPicPr>
            <a:picLocks noChangeAspect="1"/>
          </p:cNvPicPr>
          <p:nvPr/>
        </p:nvPicPr>
        <p:blipFill>
          <a:blip r:embed="rId1"/>
          <a:srcRect l="-34" r="-34" t="0" b="0"/>
          <a:stretch/>
        </p:blipFill>
        <p:spPr>
          <a:xfrm>
            <a:off x="812800" y="1229361"/>
            <a:ext cx="6223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61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NumPy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0"/>
            <a:ext cx="392430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foundation of scientific Python: fast n-dimensional arrays with vectorized math, broadcasting and linear algebra. Almost every other library in this deck builds on it.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107180"/>
            <a:ext cx="778272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ndarray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67272" y="4107180"/>
            <a:ext cx="115363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Broadcasting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97108" y="4107180"/>
            <a:ext cx="1223169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Linear algebra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numpy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61"/>
            <a:ext cx="5964936" cy="276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numpy as np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np.array([[1, 2, 3], [4, 5, 6]], dtype=float)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print(x.shape)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(2, 3)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print(x.mean(axis=0))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[2.5 3.5 4.5]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Vectorized math: no Python loops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z = (x - x.mean()) / x.std()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rng = np.random.default_rng(42)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 = rng.normal(size=(3, 2))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print(x @ w)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matrix product, shape (2, 2)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DATA PROCESSING</a:t>
            </a:r>
            <a:endParaRPr lang="en-US" sz="1200" dirty="0"/>
          </a:p>
        </p:txBody>
      </p:sp>
      <p:pic>
        <p:nvPicPr>
          <p:cNvPr id="3" name="Image 0" descr="Pandas logo">    </p:cNvPr>
          <p:cNvPicPr>
            <a:picLocks noChangeAspect="1"/>
          </p:cNvPicPr>
          <p:nvPr/>
        </p:nvPicPr>
        <p:blipFill>
          <a:blip r:embed="rId1"/>
          <a:srcRect l="-101" r="-101" t="0" b="0"/>
          <a:stretch/>
        </p:blipFill>
        <p:spPr>
          <a:xfrm>
            <a:off x="812800" y="1229361"/>
            <a:ext cx="4191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61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Pandas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2"/>
            <a:ext cx="392430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go-to library for labeled, tabular data. Its DataFrame makes it easy to read CSV, Excel, SQL or Parquet, then clean, filter, join and aggregate the data.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107182"/>
            <a:ext cx="1008142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DataFrame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97142" y="4107182"/>
            <a:ext cx="901462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Group-by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74804" y="4107182"/>
            <a:ext cx="813832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Rich I/O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pandas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61"/>
            <a:ext cx="5964936" cy="276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pandas as pd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df = pd.read_csv("sales.csv", parse_dates=["date"])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df = df.dropna(subset=["amount"])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df["month"] = df["date"].dt.to_period("M")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summary = (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df.groupby("region")["amount"]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.agg(["sum", "mean", "count"])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.sort_values("sum", ascending=False)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print(summary.head())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DATA PROCESSING</a:t>
            </a:r>
            <a:endParaRPr lang="en-US" sz="1200" dirty="0"/>
          </a:p>
        </p:txBody>
      </p:sp>
      <p:pic>
        <p:nvPicPr>
          <p:cNvPr id="3" name="Image 0" descr="Polars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29361"/>
            <a:ext cx="13208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61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Polars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2"/>
            <a:ext cx="392430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fast DataFrame library written in Rust on Apache Arrow. It runs multi-threaded and has a lazy query engine that optimizes the whole pipeline before executing it.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107182"/>
            <a:ext cx="84534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Lazy API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734344" y="4107182"/>
            <a:ext cx="127817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Multi-threaded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88719" y="4107182"/>
            <a:ext cx="1269048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Arrow memory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polars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61"/>
            <a:ext cx="5964936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polars as pl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result = (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pl.scan_csv("sales.csv")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lazy: nothing runs yet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.filter(pl.col("amount") &gt; 0)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.group_by("region")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.agg(pl.col("amount").sum().alias("total"))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.sort("total", descending=True)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.collect()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optimize + execute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print(result)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/ 10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9682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 learning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202182"/>
            <a:ext cx="85026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2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Classical models for tabular data: regression, classification, clustering and gradient-boosted trees.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6" name="Image 0" descr="Scikit-learn logo">    </p:cNvPr>
          <p:cNvPicPr>
            <a:picLocks noChangeAspect="1"/>
          </p:cNvPicPr>
          <p:nvPr/>
        </p:nvPicPr>
        <p:blipFill>
          <a:blip r:embed="rId1"/>
          <a:srcRect l="-30167" r="-30167" t="0" b="0"/>
          <a:stretch/>
        </p:blipFill>
        <p:spPr>
          <a:xfrm>
            <a:off x="1016000" y="4813300"/>
            <a:ext cx="1879600" cy="63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9540" y="5575300"/>
            <a:ext cx="12324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020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9" name="Image 1" descr="XGBoost logo">    </p:cNvPr>
          <p:cNvPicPr>
            <a:picLocks noChangeAspect="1"/>
          </p:cNvPicPr>
          <p:nvPr/>
        </p:nvPicPr>
        <p:blipFill>
          <a:blip r:embed="rId2"/>
          <a:srcRect l="-1147" r="-1147" t="0" b="0"/>
          <a:stretch/>
        </p:blipFill>
        <p:spPr>
          <a:xfrm>
            <a:off x="3505200" y="4813300"/>
            <a:ext cx="1879600" cy="635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88276" y="5575300"/>
            <a:ext cx="9134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XGBoost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7912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12" name="Image 2" descr="LightGBM logo">    </p:cNvPr>
          <p:cNvPicPr>
            <a:picLocks noChangeAspect="1"/>
          </p:cNvPicPr>
          <p:nvPr/>
        </p:nvPicPr>
        <p:blipFill>
          <a:blip r:embed="rId3"/>
          <a:srcRect l="0" r="0" t="-24918" b="-24918"/>
          <a:stretch/>
        </p:blipFill>
        <p:spPr>
          <a:xfrm>
            <a:off x="5994400" y="4813300"/>
            <a:ext cx="1879600" cy="63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20422" y="5575300"/>
            <a:ext cx="102755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LightGBM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MACHINE LEARNING</a:t>
            </a:r>
            <a:endParaRPr lang="en-US" sz="1200" dirty="0"/>
          </a:p>
        </p:txBody>
      </p:sp>
      <p:pic>
        <p:nvPicPr>
          <p:cNvPr id="3" name="Image 0" descr="Scikit-learn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29361"/>
            <a:ext cx="12192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61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Scikit-learn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2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standard toolkit for classical machine learning: classification, regression, clustering, preprocessing and model selection, all behind one consistent fit / predict API.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04"/>
            <a:ext cx="990441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Estimators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79441" y="4383404"/>
            <a:ext cx="88058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36227" y="4383404"/>
            <a:ext cx="1362313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Cross-validation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scikit-learn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61"/>
            <a:ext cx="5964936" cy="276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sklearn.datasets import load_iris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sklearn.model_selection import train_test_split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sklearn.ensemble import RandomForestClassifier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sklearn.metrics import accuracy_score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X, y = load_iris(return_X_y=True)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X_tr, X_te, y_tr, y_te = train_test_split(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X, y, test_size=0.2, random_state=42)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clf = RandomForestClassifier(n_estimators=200)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clf.fit(X_tr, y_tr)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print(accuracy_score(y_te, clf.predict(X_te)))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MACHINE LEARNING</a:t>
            </a:r>
            <a:endParaRPr lang="en-US" sz="1200" dirty="0"/>
          </a:p>
        </p:txBody>
      </p:sp>
      <p:pic>
        <p:nvPicPr>
          <p:cNvPr id="3" name="Image 0" descr="XGBoost logo">    </p:cNvPr>
          <p:cNvPicPr>
            <a:picLocks noChangeAspect="1"/>
          </p:cNvPicPr>
          <p:nvPr/>
        </p:nvPicPr>
        <p:blipFill>
          <a:blip r:embed="rId1"/>
          <a:srcRect l="-11" r="-11" t="0" b="0"/>
          <a:stretch/>
        </p:blipFill>
        <p:spPr>
          <a:xfrm>
            <a:off x="812800" y="1229364"/>
            <a:ext cx="191135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64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XGBoost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79"/>
            <a:ext cx="392430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optimized gradient-boosted decision tree library. A long-time winner on tabular data, with regularization, built-in handling of missing values and GPU training.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107179"/>
            <a:ext cx="120848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Boosted trees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097484" y="4107179"/>
            <a:ext cx="1124585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GPU support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98270" y="4107179"/>
            <a:ext cx="1044575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sklearn API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xgboost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64"/>
            <a:ext cx="5964936" cy="276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xgboost as xgb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sklearn.datasets import load_breast_cancer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sklearn.model_selection import train_test_split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X, y = load_breast_cancer(return_X_y=True)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X_tr, X_te, y_tr, y_te = train_test_split(X, y)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model = xgb.XGBClassifier(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n_estimators=300, max_depth=4, learning_rate=0.1)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model.fit(X_tr, y_tr, eval_set=[(X_te, y_te)],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verbose=False)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print("accuracy:", model.score(X_te, y_te))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MACHINE LEARNING</a:t>
            </a:r>
            <a:endParaRPr lang="en-US" sz="1200" dirty="0"/>
          </a:p>
        </p:txBody>
      </p:sp>
      <p:pic>
        <p:nvPicPr>
          <p:cNvPr id="3" name="Image 0" descr="LightGBM logo">    </p:cNvPr>
          <p:cNvPicPr>
            <a:picLocks noChangeAspect="1"/>
          </p:cNvPicPr>
          <p:nvPr/>
        </p:nvPicPr>
        <p:blipFill>
          <a:blip r:embed="rId1"/>
          <a:srcRect l="-105" r="-105" t="0" b="0"/>
          <a:stretch/>
        </p:blipFill>
        <p:spPr>
          <a:xfrm>
            <a:off x="812800" y="1229364"/>
            <a:ext cx="2794000" cy="62865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61214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LightGBM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67329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Microsoft's gradient boosting framework. Histogram-based splits and leaf-wise tree growth make it very fast and memory-efficient on large datasets, with native categorical features.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51654"/>
            <a:ext cx="1429782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Leaf-wise growth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318782" y="4351654"/>
            <a:ext cx="967899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62881" y="4351654"/>
            <a:ext cx="109926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Categoricals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lightgbm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64"/>
            <a:ext cx="5964936" cy="276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lightgbm as lgb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sklearn.datasets import fetch_california_housing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sklearn.model_selection import train_test_split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X, y = fetch_california_housing(return_X_y=True)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X_tr, X_te, y_tr, y_te = train_test_split(X, y)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model = lgb.LGBMRegressor(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n_estimators=1000, learning_rate=0.05, num_leaves=31)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model.fit(X_tr, y_tr, eval_set=[(X_te, y_te)],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callbacks=[lgb.early_stopping(50)])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print("R2:", model.score(X_te, y_te))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/ 10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9679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learning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202179"/>
            <a:ext cx="85026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2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Neural networks on GPUs and TPUs: tensors, automatic differentiation and training loops.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6" name="Image 0" descr="PyTorch logo">    </p:cNvPr>
          <p:cNvPicPr>
            <a:picLocks noChangeAspect="1"/>
          </p:cNvPicPr>
          <p:nvPr/>
        </p:nvPicPr>
        <p:blipFill>
          <a:blip r:embed="rId1"/>
          <a:srcRect l="-127600" r="-127600" t="0" b="0"/>
          <a:stretch/>
        </p:blipFill>
        <p:spPr>
          <a:xfrm>
            <a:off x="1016000" y="4813300"/>
            <a:ext cx="1879600" cy="63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2985" y="5575300"/>
            <a:ext cx="84562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PyTorch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020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9" name="Image 1" descr="TensorFlow logo">    </p:cNvPr>
          <p:cNvPicPr>
            <a:picLocks noChangeAspect="1"/>
          </p:cNvPicPr>
          <p:nvPr/>
        </p:nvPicPr>
        <p:blipFill>
          <a:blip r:embed="rId2"/>
          <a:srcRect l="-114444" r="-114444" t="0" b="0"/>
          <a:stretch/>
        </p:blipFill>
        <p:spPr>
          <a:xfrm>
            <a:off x="3505200" y="4813300"/>
            <a:ext cx="1879600" cy="635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32257" y="5575300"/>
            <a:ext cx="122548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TensorFlow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7912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12" name="Image 2" descr="JAX logo">    </p:cNvPr>
          <p:cNvPicPr>
            <a:picLocks noChangeAspect="1"/>
          </p:cNvPicPr>
          <p:nvPr/>
        </p:nvPicPr>
        <p:blipFill>
          <a:blip r:embed="rId3"/>
          <a:srcRect l="-35840" r="-35840" t="0" b="0"/>
          <a:stretch/>
        </p:blipFill>
        <p:spPr>
          <a:xfrm>
            <a:off x="5994400" y="4813300"/>
            <a:ext cx="1879600" cy="63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1507" y="5575300"/>
            <a:ext cx="4253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JAX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2804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15" name="Image 3" descr="Keras logo">    </p:cNvPr>
          <p:cNvPicPr>
            <a:picLocks noChangeAspect="1"/>
          </p:cNvPicPr>
          <p:nvPr/>
        </p:nvPicPr>
        <p:blipFill>
          <a:blip r:embed="rId4"/>
          <a:srcRect l="-98000" r="-98000" t="0" b="0"/>
          <a:stretch/>
        </p:blipFill>
        <p:spPr>
          <a:xfrm>
            <a:off x="8483600" y="4813300"/>
            <a:ext cx="1879600" cy="635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20322" y="5575300"/>
            <a:ext cx="60607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Keras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DEEP LEARNING</a:t>
            </a:r>
            <a:endParaRPr lang="en-US" sz="1200" dirty="0"/>
          </a:p>
        </p:txBody>
      </p:sp>
      <p:pic>
        <p:nvPicPr>
          <p:cNvPr id="3" name="Image 0" descr="PyTorch logo">    </p:cNvPr>
          <p:cNvPicPr>
            <a:picLocks noChangeAspect="1"/>
          </p:cNvPicPr>
          <p:nvPr/>
        </p:nvPicPr>
        <p:blipFill>
          <a:blip r:embed="rId1"/>
          <a:srcRect l="-192" r="-192" t="0" b="0"/>
          <a:stretch/>
        </p:blipFill>
        <p:spPr>
          <a:xfrm>
            <a:off x="812800" y="1229364"/>
            <a:ext cx="55245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64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PyTorch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79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most widely used deep learning framework in research and increasingly in production: GPU tensors, automatic differentiation and a Pythonic, eager style of building models.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04"/>
            <a:ext cx="88209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Autograd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771094" y="4383404"/>
            <a:ext cx="977821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nn.Module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25115" y="4383404"/>
            <a:ext cx="650161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CUDA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torch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64"/>
            <a:ext cx="5964936" cy="3454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torch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torch import nn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model = nn.Sequential(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nn.Linear(10, 64), nn.ReLU(), nn.Linear(64, 1))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opt = torch.optim.Adam(model.parameters(), lr=1e-3)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loss_fn = nn.MSELoss()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X, y = torch.randn(256, 10), torch.randn(256, 1)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epoch in range(100):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opt.zero_grad()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loss = loss_fn(model(X), y)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loss.backward()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autograd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opt.step()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print(f"final loss: {loss.item():.4f}")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DEEP LEARNING</a:t>
            </a:r>
            <a:endParaRPr lang="en-US" sz="1200" dirty="0"/>
          </a:p>
        </p:txBody>
      </p:sp>
      <p:pic>
        <p:nvPicPr>
          <p:cNvPr id="3" name="Image 0" descr="TensorFlow logo">    </p:cNvPr>
          <p:cNvPicPr>
            <a:picLocks noChangeAspect="1"/>
          </p:cNvPicPr>
          <p:nvPr/>
        </p:nvPicPr>
        <p:blipFill>
          <a:blip r:embed="rId1"/>
          <a:srcRect l="-214" r="-214" t="0" b="0"/>
          <a:stretch/>
        </p:blipFill>
        <p:spPr>
          <a:xfrm>
            <a:off x="812800" y="1229364"/>
            <a:ext cx="5969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64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TensorFlow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79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Google's end-to-end ML platform: tf.data input pipelines, distributed training, and mature deployment paths to servers, mobile and the browser (TF Serving, LiteRT, TensorFlow.js).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04"/>
            <a:ext cx="1173163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GradientTape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062163" y="4383404"/>
            <a:ext cx="69389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tf.data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32259" y="4383404"/>
            <a:ext cx="1087199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tensorflow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64"/>
            <a:ext cx="5964936" cy="322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tensorflow as tf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tf.random.normal([100, 3])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y = x @ tf.constant([[2.0], [-1.0], [0.5]])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 = tf.Variable(tf.zeros([3, 1]))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opt = tf.keras.optimizers.SGD(learning_rate=0.1)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step in range(200):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with tf.GradientTape() as tape: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loss = tf.reduce_mean((x @ w - y) ** 2)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grads = tape.gradient(loss, [w])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opt.apply_gradients(zip(grads, [w]))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print(w.numpy().ravel())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≈ [2.0, -1.0, 0.5]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DEEP LEARNING</a:t>
            </a:r>
            <a:endParaRPr lang="en-US" sz="1200" dirty="0"/>
          </a:p>
        </p:txBody>
      </p:sp>
      <p:pic>
        <p:nvPicPr>
          <p:cNvPr id="3" name="Image 0" descr="JAX logo">    </p:cNvPr>
          <p:cNvPicPr>
            <a:picLocks noChangeAspect="1"/>
          </p:cNvPicPr>
          <p:nvPr/>
        </p:nvPicPr>
        <p:blipFill>
          <a:blip r:embed="rId1"/>
          <a:srcRect l="0" r="0" t="-87" b="-87"/>
          <a:stretch/>
        </p:blipFill>
        <p:spPr>
          <a:xfrm>
            <a:off x="812800" y="1229364"/>
            <a:ext cx="113665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64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JAX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79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NumPy-style arrays plus composable function transformations: grad for derivatives, jit for XLA compilation and vmap for auto-vectorization. Built for high-performance research on GPU and TPU.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04"/>
            <a:ext cx="55959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448594" y="4383404"/>
            <a:ext cx="78438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jit / XLA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309177" y="4383404"/>
            <a:ext cx="631825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vmap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jax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64"/>
            <a:ext cx="5964936" cy="3683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jax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jax.numpy as jnp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loss(w, x, y):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jnp.mean((x @ w - y) ** 2)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grad_fn = jax.jit(jax.grad(loss))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differentiate + compile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key = jax.random.PRNGKey(0)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jax.random.normal(key, (100, 3))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y = x @ jnp.array([2.0, -1.0, 0.5])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 = jnp.zeros(3)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_ in range(200):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w = w - 0.1 * grad_fn(w, x, y)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print(w)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DEEP LEARNING</a:t>
            </a:r>
            <a:endParaRPr lang="en-US" sz="1200" dirty="0"/>
          </a:p>
        </p:txBody>
      </p:sp>
      <p:pic>
        <p:nvPicPr>
          <p:cNvPr id="3" name="Image 0" descr="Keras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29364"/>
            <a:ext cx="6604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64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Keras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79"/>
            <a:ext cx="392430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high-level, beginner-friendly API for building and training neural networks. Keras 3 is multi-backend: the same model code runs on TensorFlow, JAX or PyTorch.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107179"/>
            <a:ext cx="986949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Layers API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75949" y="4107179"/>
            <a:ext cx="1107599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fit / evaluate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59748" y="4107179"/>
            <a:ext cx="124023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Multi-backend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keras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64"/>
            <a:ext cx="5964936" cy="3911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keras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keras import layers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(x_tr, y_tr), (x_te, y_te) = keras.datasets.mnist.load_data()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model = keras.Sequential([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keras.Input(shape=(28, 28)),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layers.Flatten(),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layers.Dense(128, activation="relu"),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layers.Dropout(0.2),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layers.Dense(10, activation="softmax"),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model.compile(optimizer="adam",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loss="sparse_categorical_crossentropy",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metrics=["accuracy"])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model.fit(x_tr / 255.0, y_tr, epochs=3, batch_size=64)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model.evaluate(x_te / 255.0, y_te)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/ 10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9685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 tracking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202185"/>
            <a:ext cx="85026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2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 every run's parameters, metrics and models so results are comparable and reproducible.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6" name="Image 0" descr="MLflow logo">    </p:cNvPr>
          <p:cNvPicPr>
            <a:picLocks noChangeAspect="1"/>
          </p:cNvPicPr>
          <p:nvPr/>
        </p:nvPicPr>
        <p:blipFill>
          <a:blip r:embed="rId1"/>
          <a:srcRect l="-98000" r="-98000" t="0" b="0"/>
          <a:stretch/>
        </p:blipFill>
        <p:spPr>
          <a:xfrm>
            <a:off x="1016000" y="4813300"/>
            <a:ext cx="1879600" cy="63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2228" y="5575300"/>
            <a:ext cx="76714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MLflow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020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9" name="Image 1" descr="Weights &amp; Biases logo">    </p:cNvPr>
          <p:cNvPicPr>
            <a:picLocks noChangeAspect="1"/>
          </p:cNvPicPr>
          <p:nvPr/>
        </p:nvPicPr>
        <p:blipFill>
          <a:blip r:embed="rId2"/>
          <a:srcRect l="-98000" r="-98000" t="0" b="0"/>
          <a:stretch/>
        </p:blipFill>
        <p:spPr>
          <a:xfrm>
            <a:off x="3505200" y="4813300"/>
            <a:ext cx="1879600" cy="635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30124" y="5575300"/>
            <a:ext cx="182975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Weights &amp; Biases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7912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sp>
        <p:nvSpPr>
          <p:cNvPr id="12" name="Shape 8"/>
          <p:cNvSpPr/>
          <p:nvPr/>
        </p:nvSpPr>
        <p:spPr>
          <a:xfrm>
            <a:off x="6623050" y="4819650"/>
            <a:ext cx="622300" cy="622300"/>
          </a:xfrm>
          <a:prstGeom prst="roundRect">
            <a:avLst>
              <a:gd name="adj" fmla="val 19388"/>
            </a:avLst>
          </a:prstGeom>
          <a:noFill/>
          <a:ln w="12700">
            <a:solidFill>
              <a:srgbClr val="C9C2B2"/>
            </a:solidFill>
            <a:prstDash val="solid"/>
          </a:ln>
        </p:spPr>
      </p:sp>
      <p:pic>
        <p:nvPicPr>
          <p:cNvPr id="13" name="Image 2" descr="Activit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6400" y="4953000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8443" y="5575300"/>
            <a:ext cx="69151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Comet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EXPERIMENT TRACKING</a:t>
            </a:r>
            <a:endParaRPr lang="en-US" sz="1200" dirty="0"/>
          </a:p>
        </p:txBody>
      </p:sp>
      <p:pic>
        <p:nvPicPr>
          <p:cNvPr id="3" name="Image 0" descr="MLflow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29358"/>
            <a:ext cx="6604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58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MLflow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open-source platform for the ML lifecycle: track parameters, metrics and artifacts, version models in a registry and package them for deployment. Now also traces GenAI apps.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10"/>
            <a:ext cx="1033383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Tracking UI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922383" y="4383410"/>
            <a:ext cx="123015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registry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28737" y="4383410"/>
            <a:ext cx="1047909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Self-hosted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mlflow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58"/>
            <a:ext cx="5964936" cy="3683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mlflow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sklearn.datasets import load_diabetes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sklearn.linear_model import Ridge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sklearn.model_selection import train_test_split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X, y = load_diabetes(return_X_y=True)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X_tr, X_te, y_tr, y_te = train_test_split(X, y)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mlflow.set_experiment("diabetes-ridge")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mlflow.sklearn.autolog()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params, metrics, model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with mlflow.start_run(run_name="alpha-0.5"):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model = Ridge(alpha=0.5).fit(X_tr, y_tr)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mlflow.log_metric("test_r2", model.score(X_te, y_te))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then run: mlflow ui (http://localhost:5000)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EXPERIMENT TRACKING</a:t>
            </a:r>
            <a:endParaRPr lang="en-US" sz="1200" dirty="0"/>
          </a:p>
        </p:txBody>
      </p:sp>
      <p:pic>
        <p:nvPicPr>
          <p:cNvPr id="3" name="Image 0" descr="Weights &amp; Biases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29358"/>
            <a:ext cx="6604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58"/>
            <a:ext cx="42672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Weights &amp; Biases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hosted platform for tracking experiments with live dashboards, hyperparameter sweeps, dataset and model versioning (Artifacts) and shareable reports for the team.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10"/>
            <a:ext cx="1071245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960245" y="4383410"/>
            <a:ext cx="788829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Sweeps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25274" y="4383410"/>
            <a:ext cx="835025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Artifacts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wandb &amp;&amp; wandb login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58"/>
            <a:ext cx="5964936" cy="299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wandb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 = wandb.init(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project="mnist-cnn",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config={"lr": 1e-3, "epochs": 10, "batch_size": 64},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epoch in range(run.config.epochs):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train_loss, val_acc = train_one_epoch()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your code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run.log({"train/loss": train_loss,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"val/acc": val_acc, "epoch": epoch})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run.finish()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charts appear live in the W&amp;B UI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EXPERIMENT TRACKING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9150" y="1235708"/>
            <a:ext cx="647700" cy="647700"/>
          </a:xfrm>
          <a:prstGeom prst="roundRect">
            <a:avLst>
              <a:gd name="adj" fmla="val 18627"/>
            </a:avLst>
          </a:prstGeom>
          <a:noFill/>
          <a:ln w="12700">
            <a:solidFill>
              <a:srgbClr val="C9C2B2"/>
            </a:solidFill>
            <a:prstDash val="solid"/>
          </a:ln>
        </p:spPr>
      </p:sp>
      <p:pic>
        <p:nvPicPr>
          <p:cNvPr id="4" name="Image 0" descr="Activ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200" y="1381758"/>
            <a:ext cx="355600" cy="355600"/>
          </a:xfrm>
          <a:prstGeom prst="rect">
            <a:avLst/>
          </a:prstGeom>
        </p:spPr>
      </p:pic>
      <p:sp>
        <p:nvSpPr>
          <p:cNvPr id="5" name="Text 2"/>
          <p:cNvSpPr/>
          <p:nvPr>
            <p:ph type="title"/>
          </p:nvPr>
        </p:nvSpPr>
        <p:spPr>
          <a:xfrm>
            <a:off x="812800" y="2092958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Comet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27990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experiment management platform that logs code, hyperparameters, metrics and models, lets you compare runs side by side and manage models in a registry. Its Opik project covers LLM evaluation.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800" y="4383410"/>
            <a:ext cx="136469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comparison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53694" y="4383410"/>
            <a:ext cx="811689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141583" y="4383410"/>
            <a:ext cx="568722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Opik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1" name="Text 8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comet_ml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34000" y="1432558"/>
            <a:ext cx="5964936" cy="299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comet_ml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import before your ML libraries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comet_ml.login()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reads COMET_API_KEY or prompts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 = comet_ml.start(project_name="churn-model")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exp.log_parameters({"max_depth": 6, "learning_rate": 0.1})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 epoch in range(10):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loss = train_one_epoch()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your code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exp.log_metric("loss", loss, step=epoch)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exp.log_model("churn-xgb", "model.json")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exp.end()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/ 10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9685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Visualization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202185"/>
            <a:ext cx="85026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2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 data and model results into charts, from static publication figures to interactive dashboards.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6" name="Image 0" descr="Matplotlib logo">    </p:cNvPr>
          <p:cNvPicPr>
            <a:picLocks noChangeAspect="1"/>
          </p:cNvPicPr>
          <p:nvPr/>
        </p:nvPicPr>
        <p:blipFill>
          <a:blip r:embed="rId1"/>
          <a:srcRect l="0" r="0" t="-33358" b="-33358"/>
          <a:stretch/>
        </p:blipFill>
        <p:spPr>
          <a:xfrm>
            <a:off x="1016000" y="4813300"/>
            <a:ext cx="1879600" cy="63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3828" y="5575300"/>
            <a:ext cx="108394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020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9" name="Image 1" descr="Seaborn logo">    </p:cNvPr>
          <p:cNvPicPr>
            <a:picLocks noChangeAspect="1"/>
          </p:cNvPicPr>
          <p:nvPr/>
        </p:nvPicPr>
        <p:blipFill>
          <a:blip r:embed="rId2"/>
          <a:srcRect l="-98000" r="-98000" t="0" b="0"/>
          <a:stretch/>
        </p:blipFill>
        <p:spPr>
          <a:xfrm>
            <a:off x="3505200" y="4813300"/>
            <a:ext cx="1879600" cy="635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02381" y="5575300"/>
            <a:ext cx="88515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Seaborn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7912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12" name="Image 2" descr="Plotly logo">    </p:cNvPr>
          <p:cNvPicPr>
            <a:picLocks noChangeAspect="1"/>
          </p:cNvPicPr>
          <p:nvPr/>
        </p:nvPicPr>
        <p:blipFill>
          <a:blip r:embed="rId3"/>
          <a:srcRect l="-98000" r="-98000" t="0" b="0"/>
          <a:stretch/>
        </p:blipFill>
        <p:spPr>
          <a:xfrm>
            <a:off x="5994400" y="4813300"/>
            <a:ext cx="1879600" cy="63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27979" y="5575300"/>
            <a:ext cx="6123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Plotly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2804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15" name="Image 3" descr="Altair logo">    </p:cNvPr>
          <p:cNvPicPr>
            <a:picLocks noChangeAspect="1"/>
          </p:cNvPicPr>
          <p:nvPr/>
        </p:nvPicPr>
        <p:blipFill>
          <a:blip r:embed="rId4"/>
          <a:srcRect l="-78324" r="-78324" t="0" b="0"/>
          <a:stretch/>
        </p:blipFill>
        <p:spPr>
          <a:xfrm>
            <a:off x="8483600" y="4813300"/>
            <a:ext cx="1879600" cy="635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30514" y="5575300"/>
            <a:ext cx="5856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Altair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VISUALIZATION</a:t>
            </a:r>
            <a:endParaRPr lang="en-US" sz="1200" dirty="0"/>
          </a:p>
        </p:txBody>
      </p:sp>
      <p:pic>
        <p:nvPicPr>
          <p:cNvPr id="3" name="Image 0" descr="Matplotlib logo">    </p:cNvPr>
          <p:cNvPicPr>
            <a:picLocks noChangeAspect="1"/>
          </p:cNvPicPr>
          <p:nvPr/>
        </p:nvPicPr>
        <p:blipFill>
          <a:blip r:embed="rId1"/>
          <a:srcRect l="-92" r="-92" t="0" b="0"/>
          <a:stretch/>
        </p:blipFill>
        <p:spPr>
          <a:xfrm>
            <a:off x="812800" y="1229358"/>
            <a:ext cx="2794000" cy="56515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1997708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Matplotlib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0383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foundational plotting library for Python. It gives fine-grained control over every element of a figure and produces publication-quality static charts. Pandas and Seaborn plot through it.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288160"/>
            <a:ext cx="1143873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Figure / Axes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032873" y="4288160"/>
            <a:ext cx="1023223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control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32296" y="4288160"/>
            <a:ext cx="1280160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PNG, SVG, PDF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matplotlib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58"/>
            <a:ext cx="5964936" cy="299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matplotlib.pyplot as plt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numpy as np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np.linspace(0, 2 * np.pi, 200)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fig, ax = plt.subplots(figsize=(8, 4))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ax.plot(x, np.sin(x), label="sin")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ax.plot(x, np.cos(x), label="cos", linestyle="--")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ax.set(title="Waves", xlabel="x", ylabel="y")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ax.grid(alpha=0.3)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ax.legend()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fig.savefig("waves.png", dpi=150, bbox_inches="tight")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VISUALIZATION</a:t>
            </a:r>
            <a:endParaRPr lang="en-US" sz="1200" dirty="0"/>
          </a:p>
        </p:txBody>
      </p:sp>
      <p:pic>
        <p:nvPicPr>
          <p:cNvPr id="3" name="Image 0" descr="Seaborn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29358"/>
            <a:ext cx="6604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58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Seaborn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Statistical graphics on top of Matplotlib. It works directly with DataFrames and draws distributions, relationships and regressions in one call, with good-looking defaults.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107185"/>
            <a:ext cx="1312148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Statistical plots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01148" y="4107185"/>
            <a:ext cx="1487408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DataFrame-native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764756" y="4107185"/>
            <a:ext cx="802402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Themes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seaborn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58"/>
            <a:ext cx="5964936" cy="299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seaborn as sns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matplotlib.pyplot as plt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sns.set_theme(style="whitegrid")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tips = sns.load_dataset("tips")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sample DataFrame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sns.scatterplot(data=tips, x="total_bill", y="tip",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  hue="time", size="size")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plt.title("Tip vs. total bill")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plt.show()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distributions per group in one line: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sns.boxplot(data=tips, x="day", y="total_bill")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VISUALIZATION</a:t>
            </a:r>
            <a:endParaRPr lang="en-US" sz="1200" dirty="0"/>
          </a:p>
        </p:txBody>
      </p:sp>
      <p:pic>
        <p:nvPicPr>
          <p:cNvPr id="3" name="Image 0" descr="Plotly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29358"/>
            <a:ext cx="6604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58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Plotly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Interactive, web-based charts with zoom, pan and hover out of the box. Plotly Express builds most charts in a single line; the same figures power Dash web apps.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107185"/>
            <a:ext cx="1000522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Interactive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89522" y="4107185"/>
            <a:ext cx="1219518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Plotly Express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85239" y="4107185"/>
            <a:ext cx="1127919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HTML export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plotly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58"/>
            <a:ext cx="5964936" cy="276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plotly.express as px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df = px.data.gapminder().query("year == 2007")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fig = px.scatter(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df, x="gdpPercap", y="lifeExp",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size="pop", color="continent",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hover_name="country", log_x=True,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title="Life expectancy vs. GDP per capita (2007)",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fig.show()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opens interactively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fig.write_html("gapminder.html")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shareable file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· VISUALIZATION</a:t>
            </a:r>
            <a:endParaRPr lang="en-US" sz="1200" dirty="0"/>
          </a:p>
        </p:txBody>
      </p:sp>
      <p:pic>
        <p:nvPicPr>
          <p:cNvPr id="3" name="Image 0" descr="Altair logo">    </p:cNvPr>
          <p:cNvPicPr>
            <a:picLocks noChangeAspect="1"/>
          </p:cNvPicPr>
          <p:nvPr/>
        </p:nvPicPr>
        <p:blipFill>
          <a:blip r:embed="rId1"/>
          <a:srcRect l="-22" r="-22" t="0" b="0"/>
          <a:stretch/>
        </p:blipFill>
        <p:spPr>
          <a:xfrm>
            <a:off x="812800" y="1229358"/>
            <a:ext cx="7620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58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Altair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Declarative statistical visualization based on the Vega-Lite grammar. You describe which columns map to x, y, color and tooltip; Altair works out the chart, including interactivity.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107185"/>
            <a:ext cx="1025207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Declarative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914208" y="4107185"/>
            <a:ext cx="89836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Vega-Lite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88774" y="4107185"/>
            <a:ext cx="1127760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Linked views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altair vega_datasets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58"/>
            <a:ext cx="5964936" cy="299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altair as alt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vega_datasets import data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cars = data.cars()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a pandas DataFrame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chart = alt.Chart(cars).mark_point().encode(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x="Horsepower:Q",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Q = quantitative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y="Miles_per_Gallon:Q",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color="Origin:N",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N = nominal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tooltip=["Name", "Year"],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).interactive()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zoom and pan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chart.save("cars.html")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 / 10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9685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serving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202185"/>
            <a:ext cx="85026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2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 a trained model in front of users: as an API, a packaged service or an interactive web app.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6" name="Image 0" descr="FastAPI logo">    </p:cNvPr>
          <p:cNvPicPr>
            <a:picLocks noChangeAspect="1"/>
          </p:cNvPicPr>
          <p:nvPr/>
        </p:nvPicPr>
        <p:blipFill>
          <a:blip r:embed="rId1"/>
          <a:srcRect l="-98000" r="-98000" t="0" b="0"/>
          <a:stretch/>
        </p:blipFill>
        <p:spPr>
          <a:xfrm>
            <a:off x="1016000" y="4813300"/>
            <a:ext cx="1879600" cy="63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2509" y="5575300"/>
            <a:ext cx="8465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020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9" name="Image 1" descr="BentoML logo">    </p:cNvPr>
          <p:cNvPicPr>
            <a:picLocks noChangeAspect="1"/>
          </p:cNvPicPr>
          <p:nvPr/>
        </p:nvPicPr>
        <p:blipFill>
          <a:blip r:embed="rId2"/>
          <a:srcRect l="-98000" r="-98000" t="0" b="0"/>
          <a:stretch/>
        </p:blipFill>
        <p:spPr>
          <a:xfrm>
            <a:off x="3505200" y="4813300"/>
            <a:ext cx="1879600" cy="635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78656" y="5575300"/>
            <a:ext cx="9326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BentoML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7912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12" name="Image 2" descr="Gradio logo">    </p:cNvPr>
          <p:cNvPicPr>
            <a:picLocks noChangeAspect="1"/>
          </p:cNvPicPr>
          <p:nvPr/>
        </p:nvPicPr>
        <p:blipFill>
          <a:blip r:embed="rId3"/>
          <a:srcRect l="-79500" r="-79500" t="0" b="0"/>
          <a:stretch/>
        </p:blipFill>
        <p:spPr>
          <a:xfrm>
            <a:off x="5994400" y="4813300"/>
            <a:ext cx="1879600" cy="63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0830" y="5575300"/>
            <a:ext cx="7066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Gradio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2804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15" name="Image 3" descr="Streamlit logo">    </p:cNvPr>
          <p:cNvPicPr>
            <a:picLocks noChangeAspect="1"/>
          </p:cNvPicPr>
          <p:nvPr/>
        </p:nvPicPr>
        <p:blipFill>
          <a:blip r:embed="rId4"/>
          <a:srcRect l="-28933" r="-28933" t="0" b="0"/>
          <a:stretch/>
        </p:blipFill>
        <p:spPr>
          <a:xfrm>
            <a:off x="8483600" y="4813300"/>
            <a:ext cx="1879600" cy="635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29910" y="5575300"/>
            <a:ext cx="98698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Streamlit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· MODEL SERVING</a:t>
            </a:r>
            <a:endParaRPr lang="en-US" sz="1200" dirty="0"/>
          </a:p>
        </p:txBody>
      </p:sp>
      <p:pic>
        <p:nvPicPr>
          <p:cNvPr id="3" name="Image 0" descr="FastAPI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29358"/>
            <a:ext cx="6604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58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modern, high-performance web framework for building APIs from Python type hints. Request validation via Pydantic and interactive OpenAPI docs come for free: a common choice for inference endpoints.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10"/>
            <a:ext cx="95813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hints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47136" y="4383410"/>
            <a:ext cx="66246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Async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85799" y="4383410"/>
            <a:ext cx="937101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 docs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"fastapi[standard]" joblib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58"/>
            <a:ext cx="5964936" cy="3683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joblib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fastapi import FastAPI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pydantic import BaseModel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 = FastAPI(title="Iris classifier")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model = joblib.load("model.joblib")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trained earlier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 Features(BaseModel):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values: list[float]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@app.post("/predict")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predict(features: Features):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pred = model.predict([features.values])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{"prediction": pred.tolist()}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run: fastapi dev main.py docs at /docs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· MODEL SERVING</a:t>
            </a:r>
            <a:endParaRPr lang="en-US" sz="1200" dirty="0"/>
          </a:p>
        </p:txBody>
      </p:sp>
      <p:pic>
        <p:nvPicPr>
          <p:cNvPr id="3" name="Image 0" descr="BentoML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29358"/>
            <a:ext cx="6604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58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BentoML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framework for turning models into production inference services. It handles adaptive batching, resource settings and packaging into containers ("Bentos") you can deploy anywhere.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10"/>
            <a:ext cx="830421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719421" y="4383410"/>
            <a:ext cx="1484948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Adaptive batching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80569" y="4383410"/>
            <a:ext cx="99393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bentoml scikit-learn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58"/>
            <a:ext cx="5964936" cy="3683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bentoml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numpy as np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saved earlier: bentoml.sklearn.save_model("iris_clf", clf)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@bentoml.service(resources={"cpu": "2"})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 IrisClassifier: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def __init__(self):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self.model = bentoml.sklearn.load_model(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"iris_clf:latest")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@bentoml.api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def classify(self, features: np.ndarray) -&gt; np.ndarray: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return self.model.predict(features)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run: bentoml serve service:IrisClassifier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· MODEL SERVING</a:t>
            </a:r>
            <a:endParaRPr lang="en-US" sz="1200" dirty="0"/>
          </a:p>
        </p:txBody>
      </p:sp>
      <p:pic>
        <p:nvPicPr>
          <p:cNvPr id="3" name="Image 0" descr="Gradio logo">    </p:cNvPr>
          <p:cNvPicPr>
            <a:picLocks noChangeAspect="1"/>
          </p:cNvPicPr>
          <p:nvPr/>
        </p:nvPicPr>
        <p:blipFill>
          <a:blip r:embed="rId1"/>
          <a:srcRect l="-60" r="-60" t="0" b="0"/>
          <a:stretch/>
        </p:blipFill>
        <p:spPr>
          <a:xfrm>
            <a:off x="812800" y="1229358"/>
            <a:ext cx="75565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58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Gradio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quickest way to wrap a model in a web UI. A few lines give you inputs, outputs and a shareable link; it is the default for demos on Hugging Face Spaces.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107185"/>
            <a:ext cx="932815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UIs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21815" y="4107185"/>
            <a:ext cx="1004491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 links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902506" y="4107185"/>
            <a:ext cx="97488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HF Spaces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gradio transformers torch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58"/>
            <a:ext cx="5964936" cy="322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gradio as gr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transformers import pipeline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classifier = pipeline("sentiment-analysis")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predict(text: str) -&gt; dict: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result = classifier(text)[0]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{result["label"]: result["score"]}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demo = gr.Interface(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fn=predict, inputs="text", outputs="label",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title="Sentiment analyzer",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demo.launch()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share=True for a public link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· MODEL SERVING</a:t>
            </a:r>
            <a:endParaRPr lang="en-US" sz="1200" dirty="0"/>
          </a:p>
        </p:txBody>
      </p:sp>
      <p:pic>
        <p:nvPicPr>
          <p:cNvPr id="3" name="Image 0" descr="Streamlit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29358"/>
            <a:ext cx="123825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58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Turns a plain Python script into an interactive data app. Widgets, charts and tables are single function calls, and the script reruns whenever a user changes an input.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10"/>
            <a:ext cx="940911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apps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29911" y="4383410"/>
            <a:ext cx="80724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Widgets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13355" y="4383410"/>
            <a:ext cx="798433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streamlit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58"/>
            <a:ext cx="5964936" cy="3911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pandas as pd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streamlit as st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st.title("Sales explorer")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@st.cache_data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load() -&gt; pd.DataFrame: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pd.read_csv("sales.csv", parse_dates=["date"])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df = load()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region = st.selectbox("Region", sorted(df["region"].unique()))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sel = df[df["region"] == region]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st.metric("Total revenue", f"{sel['amount'].sum():,.0f}")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st.line_chart(sel, x="date", y="amount")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st.dataframe(sel)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run: streamlit run app.py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07 / 10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9685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Orchestration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202185"/>
            <a:ext cx="85026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2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Schedule, chain and monitor the pipeline steps: ingestion, training, evaluation and deployment.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6" name="Image 0" descr="Apache Airflow logo">    </p:cNvPr>
          <p:cNvPicPr>
            <a:picLocks noChangeAspect="1"/>
          </p:cNvPicPr>
          <p:nvPr/>
        </p:nvPicPr>
        <p:blipFill>
          <a:blip r:embed="rId1"/>
          <a:srcRect l="-98000" r="-98000" t="0" b="0"/>
          <a:stretch/>
        </p:blipFill>
        <p:spPr>
          <a:xfrm>
            <a:off x="1016000" y="4813300"/>
            <a:ext cx="1879600" cy="63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71180" y="5575300"/>
            <a:ext cx="76923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Airflow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020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9" name="Image 1" descr="Prefect logo">    </p:cNvPr>
          <p:cNvPicPr>
            <a:picLocks noChangeAspect="1"/>
          </p:cNvPicPr>
          <p:nvPr/>
        </p:nvPicPr>
        <p:blipFill>
          <a:blip r:embed="rId2"/>
          <a:srcRect l="-177692" r="-177692" t="0" b="0"/>
          <a:stretch/>
        </p:blipFill>
        <p:spPr>
          <a:xfrm>
            <a:off x="3505200" y="4813300"/>
            <a:ext cx="1879600" cy="635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60000" y="5575300"/>
            <a:ext cx="7700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Prefect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7912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12" name="Image 2" descr="Kubeflow logo">    </p:cNvPr>
          <p:cNvPicPr>
            <a:picLocks noChangeAspect="1"/>
          </p:cNvPicPr>
          <p:nvPr/>
        </p:nvPicPr>
        <p:blipFill>
          <a:blip r:embed="rId3"/>
          <a:srcRect l="-96667" r="-96667" t="0" b="0"/>
          <a:stretch/>
        </p:blipFill>
        <p:spPr>
          <a:xfrm>
            <a:off x="5994400" y="4813300"/>
            <a:ext cx="1879600" cy="63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28430" y="5575300"/>
            <a:ext cx="10114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Kubeflow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2804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15" name="Image 3" descr="Dagster logo">    </p:cNvPr>
          <p:cNvPicPr>
            <a:picLocks noChangeAspect="1"/>
          </p:cNvPicPr>
          <p:nvPr/>
        </p:nvPicPr>
        <p:blipFill>
          <a:blip r:embed="rId4"/>
          <a:srcRect l="0" r="0" t="-28406" b="-28406"/>
          <a:stretch/>
        </p:blipFill>
        <p:spPr>
          <a:xfrm>
            <a:off x="8483600" y="4813300"/>
            <a:ext cx="1879600" cy="635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11261" y="5575300"/>
            <a:ext cx="82419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Dagster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· ORCHESTRATION</a:t>
            </a:r>
            <a:endParaRPr lang="en-US" sz="1200" dirty="0"/>
          </a:p>
        </p:txBody>
      </p:sp>
      <p:pic>
        <p:nvPicPr>
          <p:cNvPr id="3" name="Image 0" descr="Apache Airflow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29358"/>
            <a:ext cx="6604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58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Apache Airflow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established platform to author, schedule and monitor workflows as DAGs written in Python. A huge library of operators connects it to databases, clouds and ML tools.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10"/>
            <a:ext cx="629999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DAGs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518999" y="4383410"/>
            <a:ext cx="1010999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Scheduling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606199" y="4383410"/>
            <a:ext cx="93908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Operators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apache-airflow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58"/>
            <a:ext cx="5964936" cy="3683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datetime import datetime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airflow.sdk import dag, task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Airflow 3 TaskFlow API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@dag(schedule="@daily", catchup=False,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start_date=datetime(2026, 1, 1))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training_pipeline():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@task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def extract() -&gt; str: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return "s3://bucket/raw/data.parquet"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@task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def train(path: str) -&gt; float: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return 0.93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fit and evaluate a model here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train(extract())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dependency: extract &gt;&gt; train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training_pipeline()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· ORCHESTRATION</a:t>
            </a:r>
            <a:endParaRPr lang="en-US" sz="1200" dirty="0"/>
          </a:p>
        </p:txBody>
      </p:sp>
      <p:pic>
        <p:nvPicPr>
          <p:cNvPr id="3" name="Image 0" descr="Prefect logo">    </p:cNvPr>
          <p:cNvPicPr>
            <a:picLocks noChangeAspect="1"/>
          </p:cNvPicPr>
          <p:nvPr/>
        </p:nvPicPr>
        <p:blipFill>
          <a:blip r:embed="rId1"/>
          <a:srcRect l="-296" r="-296" t="0" b="0"/>
          <a:stretch/>
        </p:blipFill>
        <p:spPr>
          <a:xfrm>
            <a:off x="812800" y="1229370"/>
            <a:ext cx="4318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70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Prefect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Pythonic workflow orchestration: decorate plain functions as flows and tasks and get retries, caching, scheduling and a monitoring UI without rewriting your code into a DAG file.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10"/>
            <a:ext cx="1006157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Decorators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95158" y="4383410"/>
            <a:ext cx="73834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09704" y="4383410"/>
            <a:ext cx="115625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prefect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70"/>
            <a:ext cx="5964936" cy="3911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prefect import flow, task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@task(retries=3, retry_delay_seconds=10)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fetch_data(url: str) -&gt; list[dict]: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...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call an API, read a bucket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@task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train(rows: list[dict]) -&gt; float: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...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fit a model, return its score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@flow(log_prints=True)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ml_pipeline(url: str = "https://api.example.com/data"):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score = train(fetch_data(url))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print(f"Model score: {score}")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__name__ == "__main__":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ml_pipeline.serve(cron="0 6 * * *")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daily at 06:00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· ORCHESTRATION</a:t>
            </a:r>
            <a:endParaRPr lang="en-US" sz="1200" dirty="0"/>
          </a:p>
        </p:txBody>
      </p:sp>
      <p:pic>
        <p:nvPicPr>
          <p:cNvPr id="3" name="Image 0" descr="Kubeflow logo">    </p:cNvPr>
          <p:cNvPicPr>
            <a:picLocks noChangeAspect="1"/>
          </p:cNvPicPr>
          <p:nvPr/>
        </p:nvPicPr>
        <p:blipFill>
          <a:blip r:embed="rId1"/>
          <a:srcRect l="-26" r="-26" t="0" b="0"/>
          <a:stretch/>
        </p:blipFill>
        <p:spPr>
          <a:xfrm>
            <a:off x="812800" y="1229370"/>
            <a:ext cx="66675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70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Kubeflow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ML toolkit for Kubernetes. With the Kubeflow Pipelines SDK (kfp) each step runs as its own container; the wider project adds distributed training, tuning (Katib) and serving (KServe).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10"/>
            <a:ext cx="104465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933654" y="4383410"/>
            <a:ext cx="88058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Pipelines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90441" y="4383410"/>
            <a:ext cx="99393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kfp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70"/>
            <a:ext cx="5964936" cy="3911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kfp import dsl, compiler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@dsl.component(base_image="python:3.11")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preprocess(rows: int) -&gt; int: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rows * 2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@dsl.component(packages_to_install=["scikit-learn"])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train(rows: int) -&gt; str: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f"trained on {rows} rows"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@dsl.pipeline(name="training-pipeline")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pipeline(rows: int = 1000):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prep = preprocess(rows=rows)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train(rows=prep.output)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compiler.Compiler().compile(pipeline, "pipeline.yaml")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upload the YAML to your Kubeflow Pipelines cluster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· ORCHESTRATION</a:t>
            </a:r>
            <a:endParaRPr lang="en-US" sz="1200" dirty="0"/>
          </a:p>
        </p:txBody>
      </p:sp>
      <p:pic>
        <p:nvPicPr>
          <p:cNvPr id="3" name="Image 0" descr="Dagster logo">    </p:cNvPr>
          <p:cNvPicPr>
            <a:picLocks noChangeAspect="1"/>
          </p:cNvPicPr>
          <p:nvPr/>
        </p:nvPicPr>
        <p:blipFill>
          <a:blip r:embed="rId1"/>
          <a:srcRect l="0" r="0" t="-109" b="-109"/>
          <a:stretch/>
        </p:blipFill>
        <p:spPr>
          <a:xfrm>
            <a:off x="812800" y="1229370"/>
            <a:ext cx="2794000" cy="60325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35820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Dagster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41935"/>
            <a:ext cx="392430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data orchestrator built around assets (the tables, files and models a pipeline produces) rather than tasks. You get lineage, type checks, testability and observability built in.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050035"/>
            <a:ext cx="71064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599644" y="4050035"/>
            <a:ext cx="783352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459196" y="4050035"/>
            <a:ext cx="836533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Testable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dagster dagster-webserver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70"/>
            <a:ext cx="5964936" cy="3454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dagster as dg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pandas as pd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@dg.asset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raw_orders() -&gt; pd.DataFrame: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pd.read_csv("orders.csv")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@dg.asset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depends on raw_orders via the argument name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daily_revenue(raw_orders: pd.DataFrame) -&gt; pd.DataFrame: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(raw_orders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.groupby("date", as_index=False)["amount"]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.sum())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defs = dg.Definitions(assets=[raw_orders, daily_revenue])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run: dagster dev then materialize in the UI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08 / 10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9685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validation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202185"/>
            <a:ext cx="85026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2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Catch bad data, drift and silent model degradation before they reach production decisions.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6" name="Image 0" descr="Great Expectations logo">    </p:cNvPr>
          <p:cNvPicPr>
            <a:picLocks noChangeAspect="1"/>
          </p:cNvPicPr>
          <p:nvPr/>
        </p:nvPicPr>
        <p:blipFill>
          <a:blip r:embed="rId1"/>
          <a:srcRect l="-98000" r="-98000" t="0" b="0"/>
          <a:stretch/>
        </p:blipFill>
        <p:spPr>
          <a:xfrm>
            <a:off x="1016000" y="4813300"/>
            <a:ext cx="1879600" cy="63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2435" y="5575300"/>
            <a:ext cx="202673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Great Expectations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020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sp>
        <p:nvSpPr>
          <p:cNvPr id="9" name="Shape 6"/>
          <p:cNvSpPr/>
          <p:nvPr/>
        </p:nvSpPr>
        <p:spPr>
          <a:xfrm>
            <a:off x="4133850" y="4819650"/>
            <a:ext cx="622300" cy="622300"/>
          </a:xfrm>
          <a:prstGeom prst="roundRect">
            <a:avLst>
              <a:gd name="adj" fmla="val 19388"/>
            </a:avLst>
          </a:prstGeom>
          <a:noFill/>
          <a:ln w="12700">
            <a:solidFill>
              <a:srgbClr val="C9C2B2"/>
            </a:solidFill>
            <a:prstDash val="solid"/>
          </a:ln>
        </p:spPr>
      </p:sp>
      <p:pic>
        <p:nvPicPr>
          <p:cNvPr id="10" name="Image 1" descr="Char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67200" y="4953000"/>
            <a:ext cx="355600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50081" y="5575300"/>
            <a:ext cx="9898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Evidently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7912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13" name="Image 2" descr="Deepchecks logo">    </p:cNvPr>
          <p:cNvPicPr>
            <a:picLocks noChangeAspect="1"/>
          </p:cNvPicPr>
          <p:nvPr/>
        </p:nvPicPr>
        <p:blipFill>
          <a:blip r:embed="rId3"/>
          <a:srcRect l="0" r="0" t="-32641" b="-32641"/>
          <a:stretch/>
        </p:blipFill>
        <p:spPr>
          <a:xfrm>
            <a:off x="5994400" y="4813300"/>
            <a:ext cx="1879600" cy="635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90882" y="5575300"/>
            <a:ext cx="128663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Deepchecks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· DATA VALIDATION</a:t>
            </a:r>
            <a:endParaRPr lang="en-US" sz="1200" dirty="0"/>
          </a:p>
        </p:txBody>
      </p:sp>
      <p:pic>
        <p:nvPicPr>
          <p:cNvPr id="3" name="Image 0" descr="Great Expectations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29370"/>
            <a:ext cx="6604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70"/>
            <a:ext cx="392430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Great Expectations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3302000"/>
            <a:ext cx="392430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quality testing: declare Expectations (assertions about your data), validate each batch against them and publish the results as human-readable Data Docs.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610100"/>
            <a:ext cx="1141492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Expectations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030492" y="4610100"/>
            <a:ext cx="947023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Docs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53715" y="4610100"/>
            <a:ext cx="807403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GX Core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great_expectations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70"/>
            <a:ext cx="5964936" cy="3683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great_expectations as gx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pandas as pd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df = pd.read_csv("orders.csv")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context = gx.get_context()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batch = (context.data_sources.add_pandas("pandas")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.add_dataframe_asset("orders")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.add_batch_definition_whole_dataframe("batch")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.get_batch(batch_parameters={"dataframe": df}))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check = gx.expectations.ExpectColumnValuesToBeBetween(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column="amount", min_value=0, max_value=10_000)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result = batch.validate(check)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print(result.success)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True / False plus details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· DATA VALIDATION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9150" y="1235720"/>
            <a:ext cx="647700" cy="647700"/>
          </a:xfrm>
          <a:prstGeom prst="roundRect">
            <a:avLst>
              <a:gd name="adj" fmla="val 18627"/>
            </a:avLst>
          </a:prstGeom>
          <a:noFill/>
          <a:ln w="12700">
            <a:solidFill>
              <a:srgbClr val="C9C2B2"/>
            </a:solidFill>
            <a:prstDash val="solid"/>
          </a:ln>
        </p:spPr>
      </p:sp>
      <p:pic>
        <p:nvPicPr>
          <p:cNvPr id="4" name="Image 0" descr="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5200" y="1381770"/>
            <a:ext cx="355600" cy="355600"/>
          </a:xfrm>
          <a:prstGeom prst="rect">
            <a:avLst/>
          </a:prstGeom>
        </p:spPr>
      </p:pic>
      <p:sp>
        <p:nvSpPr>
          <p:cNvPr id="5" name="Text 2"/>
          <p:cNvSpPr/>
          <p:nvPr>
            <p:ph type="title"/>
          </p:nvPr>
        </p:nvSpPr>
        <p:spPr>
          <a:xfrm>
            <a:off x="812800" y="2092970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Evidently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12800" y="27990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Open-source evaluation and monitoring for ML and LLM systems. It compares production data with a reference set and reports data drift, data quality and model performance.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800" y="4383410"/>
            <a:ext cx="893842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drift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82842" y="4383410"/>
            <a:ext cx="790972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650014" y="4383410"/>
            <a:ext cx="919559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evals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1" name="Text 8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evidently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34000" y="1432570"/>
            <a:ext cx="5964936" cy="276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pandas as pd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evidently import Report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evidently.presets import DataDriftPreset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reference = pd.read_parquet("train.parquet")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baseline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current = pd.read_parquet("prod_last_week.parquet")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report = Report([DataDriftPreset()])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result = report.run(current, reference)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current vs. ref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result.save_html("drift_report.html")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visual report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summary = result.dict()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or use in CI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· DATA VALIDATION</a:t>
            </a:r>
            <a:endParaRPr lang="en-US" sz="1200" dirty="0"/>
          </a:p>
        </p:txBody>
      </p:sp>
      <p:pic>
        <p:nvPicPr>
          <p:cNvPr id="3" name="Image 0" descr="Deepchecks logo">    </p:cNvPr>
          <p:cNvPicPr>
            <a:picLocks noChangeAspect="1"/>
          </p:cNvPicPr>
          <p:nvPr/>
        </p:nvPicPr>
        <p:blipFill>
          <a:blip r:embed="rId1"/>
          <a:srcRect l="0" r="0" t="-36" b="-36"/>
          <a:stretch/>
        </p:blipFill>
        <p:spPr>
          <a:xfrm>
            <a:off x="812800" y="1229370"/>
            <a:ext cx="2794000" cy="5715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04070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Deepchecks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101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Ready-made test suites for ML: data integrity, train-test drift and leakage, and model evaluation for tabular, NLP and vision data, with an HTML report of what passed and failed.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294510"/>
            <a:ext cx="98726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 suites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76266" y="4294510"/>
            <a:ext cx="1330563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Leakage checks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83029" y="4294510"/>
            <a:ext cx="790972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deepchecks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70"/>
            <a:ext cx="5964936" cy="299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deepchecks.tabular import Dataset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deepchecks.tabular.suites import full_suite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train_df / test_df: pandas DataFrames, model: fitted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train_ds = Dataset(train_df, label="churn",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     cat_features=["plan", "country"])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test_ds = Dataset(test_df, label="churn",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    cat_features=["plan", "country"])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result = full_suite().run(train_dataset=train_ds,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           test_dataset=test_ds,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           model=model)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result.save_as_html("deepchecks_report.html")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09 / 10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9685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Privacy and security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202185"/>
            <a:ext cx="85026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2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 personal data: find and mask PII, or compute on data you are never allowed to see.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6" name="Image 0" descr="Presidio logo">    </p:cNvPr>
          <p:cNvPicPr>
            <a:picLocks noChangeAspect="1"/>
          </p:cNvPicPr>
          <p:nvPr/>
        </p:nvPicPr>
        <p:blipFill>
          <a:blip r:embed="rId1"/>
          <a:srcRect l="-98000" r="-98000" t="0" b="0"/>
          <a:stretch/>
        </p:blipFill>
        <p:spPr>
          <a:xfrm>
            <a:off x="1016000" y="4813300"/>
            <a:ext cx="1879600" cy="63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2698" y="5575300"/>
            <a:ext cx="86620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Presidio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020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9" name="Image 1" descr="PySyft logo">    </p:cNvPr>
          <p:cNvPicPr>
            <a:picLocks noChangeAspect="1"/>
          </p:cNvPicPr>
          <p:nvPr/>
        </p:nvPicPr>
        <p:blipFill>
          <a:blip r:embed="rId2"/>
          <a:srcRect l="-91833" r="-91833" t="0" b="0"/>
          <a:stretch/>
        </p:blipFill>
        <p:spPr>
          <a:xfrm>
            <a:off x="3505200" y="4813300"/>
            <a:ext cx="1879600" cy="635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98671" y="5575300"/>
            <a:ext cx="69265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PySyft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 · PRIVACY AND SECURITY</a:t>
            </a:r>
            <a:endParaRPr lang="en-US" sz="1200" dirty="0"/>
          </a:p>
        </p:txBody>
      </p:sp>
      <p:pic>
        <p:nvPicPr>
          <p:cNvPr id="3" name="Image 0" descr="Presidio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29370"/>
            <a:ext cx="6604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70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Presidio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Microsoft's open-source SDK for finding and anonymizing personal data (names, phone numbers, emails, card numbers and more) in text and images, using NER models, regex and rules.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10"/>
            <a:ext cx="1153081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PII detection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042081" y="4383410"/>
            <a:ext cx="127174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Anonymization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4774580"/>
            <a:ext cx="1603693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 recognizers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presidio-analyzer presidio-anonymizer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70"/>
            <a:ext cx="5964936" cy="322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also: python -m spacy download en_core_web_lg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presidio_analyzer import AnalyzerEngine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presidio_anonymizer import AnonymizerEngine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text = "Hi, I'm John Smith, call me at 212-555-0199."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analyzer = AnalyzerEngine()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findings = analyzer.analyze(text=text, language="en")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anonymizer = AnonymizerEngine()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clean = anonymizer.anonymize(text=text,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               analyzer_results=findings)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print(clean.text)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Hi, I'm &lt;PERSON&gt;, call me at &lt;PHONE_NUMBER&gt;.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 · PRIVACY AND SECURITY</a:t>
            </a:r>
            <a:endParaRPr lang="en-US" sz="1200" dirty="0"/>
          </a:p>
        </p:txBody>
      </p:sp>
      <p:pic>
        <p:nvPicPr>
          <p:cNvPr id="3" name="Image 0" descr="PySyft logo">    </p:cNvPr>
          <p:cNvPicPr>
            <a:picLocks noChangeAspect="1"/>
          </p:cNvPicPr>
          <p:nvPr/>
        </p:nvPicPr>
        <p:blipFill>
          <a:blip r:embed="rId1"/>
          <a:srcRect l="0" r="0" t="-242" b="-242"/>
          <a:stretch/>
        </p:blipFill>
        <p:spPr>
          <a:xfrm>
            <a:off x="812800" y="1229370"/>
            <a:ext cx="6858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70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PySyft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OpenMined's library for remote data science: researchers run code on data they cannot see. The data owner reviews and approves each request, so only approved results leave the server.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10"/>
            <a:ext cx="149153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Remote execution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380536" y="4383410"/>
            <a:ext cx="1335008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approval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4774580"/>
            <a:ext cx="895668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Datasites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syft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70"/>
            <a:ext cx="5964936" cy="3454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import syft as sy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data scientist connects to a data owner's Datasite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client = sy.login(url="localhost", port=8080,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    email="researcher@uni.edu", password="...")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asset = client.datasets[0].assets[0]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mock data only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@sy.syft_function_single_use(data=asset)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mean_age(data):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data["age"].mean()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client.code.request_code_execution(mean_age)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...the data owner reviews and approves...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result = client.code.mean_age(data=asset)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print(result.get())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real result, raw data never seen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 / 10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9685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F3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agents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202185"/>
            <a:ext cx="85026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B9C2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Let LLMs plan, call tools and collaborate, with structure, state and guardrails around them.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6" name="Image 0" descr="LangGraph logo">    </p:cNvPr>
          <p:cNvPicPr>
            <a:picLocks noChangeAspect="1"/>
          </p:cNvPicPr>
          <p:nvPr/>
        </p:nvPicPr>
        <p:blipFill>
          <a:blip r:embed="rId1"/>
          <a:srcRect l="-98000" r="-98000" t="0" b="0"/>
          <a:stretch/>
        </p:blipFill>
        <p:spPr>
          <a:xfrm>
            <a:off x="1016000" y="4813300"/>
            <a:ext cx="1879600" cy="63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7633" y="5575300"/>
            <a:ext cx="115633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LangGraph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020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9" name="Image 1" descr="LangChain logo">    </p:cNvPr>
          <p:cNvPicPr>
            <a:picLocks noChangeAspect="1"/>
          </p:cNvPicPr>
          <p:nvPr/>
        </p:nvPicPr>
        <p:blipFill>
          <a:blip r:embed="rId2"/>
          <a:srcRect l="-151818" r="-151818" t="0" b="0"/>
          <a:stretch/>
        </p:blipFill>
        <p:spPr>
          <a:xfrm>
            <a:off x="3505200" y="4813300"/>
            <a:ext cx="1879600" cy="635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88454" y="5575300"/>
            <a:ext cx="111309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LangChain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7912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12" name="Image 2" descr="Pydantic logo">    </p:cNvPr>
          <p:cNvPicPr>
            <a:picLocks noChangeAspect="1"/>
          </p:cNvPicPr>
          <p:nvPr/>
        </p:nvPicPr>
        <p:blipFill>
          <a:blip r:embed="rId3"/>
          <a:srcRect l="-79500" r="-79500" t="0" b="0"/>
          <a:stretch/>
        </p:blipFill>
        <p:spPr>
          <a:xfrm>
            <a:off x="5994400" y="4813300"/>
            <a:ext cx="1879600" cy="63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43269" y="5575300"/>
            <a:ext cx="11818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PydanticAI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280400" y="4610100"/>
            <a:ext cx="2286000" cy="1435100"/>
          </a:xfrm>
          <a:prstGeom prst="roundRect">
            <a:avLst>
              <a:gd name="adj" fmla="val 8850"/>
            </a:avLst>
          </a:prstGeom>
          <a:solidFill>
            <a:srgbClr val="F5F3EE"/>
          </a:solidFill>
          <a:ln/>
        </p:spPr>
      </p:sp>
      <p:pic>
        <p:nvPicPr>
          <p:cNvPr id="15" name="Image 3" descr="CrewAI logo">    </p:cNvPr>
          <p:cNvPicPr>
            <a:picLocks noChangeAspect="1"/>
          </p:cNvPicPr>
          <p:nvPr/>
        </p:nvPicPr>
        <p:blipFill>
          <a:blip r:embed="rId4"/>
          <a:srcRect l="-117547" r="-117547" t="0" b="0"/>
          <a:stretch/>
        </p:blipFill>
        <p:spPr>
          <a:xfrm>
            <a:off x="8483600" y="4813300"/>
            <a:ext cx="1879600" cy="635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25636" y="5575300"/>
            <a:ext cx="7955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CrewAI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· AI AGENTS</a:t>
            </a:r>
            <a:endParaRPr lang="en-US" sz="1200" dirty="0"/>
          </a:p>
        </p:txBody>
      </p:sp>
      <p:pic>
        <p:nvPicPr>
          <p:cNvPr id="3" name="Image 0" descr="LangGraph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229370"/>
            <a:ext cx="6604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70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LangGraph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low-level framework for stateful, multi-step agents modeled as graphs: nodes do work, edges (including loops) route between them. Adds persistence, streaming and human-in-the-loop.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10"/>
            <a:ext cx="1116330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State graphs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005330" y="4383410"/>
            <a:ext cx="1101963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Checkpoints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2800" y="4774580"/>
            <a:ext cx="1582182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langgraph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70"/>
            <a:ext cx="5964936" cy="4140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typing import TypedDict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langgraph.graph import StateGraph, START, END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 State(TypedDict):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question: str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answer: str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 answer_node(state: State) -&gt; dict: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call an LLM or a tool here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{"answer": f"You asked: {state['question']}"}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graph = StateGraph(State)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graph.add_node("answer", answer_node)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graph.add_edge(START, "answer")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graph.add_edge("answer", END)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app = graph.compile()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print(app.invoke({"question": "What is LangGraph?"}))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· AI AGENTS</a:t>
            </a:r>
            <a:endParaRPr lang="en-US" sz="1200" dirty="0"/>
          </a:p>
        </p:txBody>
      </p:sp>
      <p:pic>
        <p:nvPicPr>
          <p:cNvPr id="3" name="Image 0" descr="LangChain logo">    </p:cNvPr>
          <p:cNvPicPr>
            <a:picLocks noChangeAspect="1"/>
          </p:cNvPicPr>
          <p:nvPr/>
        </p:nvPicPr>
        <p:blipFill>
          <a:blip r:embed="rId1"/>
          <a:srcRect l="0" r="0" t="-175" b="-175"/>
          <a:stretch/>
        </p:blipFill>
        <p:spPr>
          <a:xfrm>
            <a:off x="812800" y="1229370"/>
            <a:ext cx="4826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70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LangChain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most widely used framework for LLM applications. One interface across model providers, plus prompts, tools, retrieval (RAG) and ready-made agents; it runs on LangGraph under the hood.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10"/>
            <a:ext cx="98099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 model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69996" y="4383410"/>
            <a:ext cx="61769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63892" y="4383410"/>
            <a:ext cx="55292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langchain langchain-anthropic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70"/>
            <a:ext cx="5964936" cy="32258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langchain.chat_models import init_chat_model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langchain_core.prompts import ChatPromptTemplate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swap provider:model freely, e.g. "openai:..."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llm = init_chat_model("anthropic:claude-sonnet-4-5")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prompt = ChatPromptTemplate.from_messages([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("system", "You are a concise technical assistant."),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("user", "Explain {topic} in two sentences."),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chain = prompt | llm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LCEL: compose with the pipe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reply = chain.invoke({"topic": "vector databases"})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print(reply.content)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· AI AGENTS</a:t>
            </a:r>
            <a:endParaRPr lang="en-US" sz="1200" dirty="0"/>
          </a:p>
        </p:txBody>
      </p:sp>
      <p:pic>
        <p:nvPicPr>
          <p:cNvPr id="3" name="Image 0" descr="Pydantic logo">    </p:cNvPr>
          <p:cNvPicPr>
            <a:picLocks noChangeAspect="1"/>
          </p:cNvPicPr>
          <p:nvPr/>
        </p:nvPicPr>
        <p:blipFill>
          <a:blip r:embed="rId1"/>
          <a:srcRect l="-60" r="-60" t="0" b="0"/>
          <a:stretch/>
        </p:blipFill>
        <p:spPr>
          <a:xfrm>
            <a:off x="812800" y="1229370"/>
            <a:ext cx="75565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70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PydanticAI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agent framework from the Pydantic team that brings a FastAPI-like feel to GenAI: type-safe, model-agnostic, with structured outputs validated by Pydantic, tools and dependency injection.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10"/>
            <a:ext cx="933609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Type-safe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822609" y="4383410"/>
            <a:ext cx="1472327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Structured output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371136" y="4383410"/>
            <a:ext cx="617696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pydantic-ai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70"/>
            <a:ext cx="5964936" cy="3683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pydantic import BaseModel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pydantic_ai import Agent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 City(BaseModel):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name: str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country: str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population: int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agent = Agent(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"anthropic:claude-sonnet-4-5",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output_type=City, </a:t>
            </a: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validated result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system_prompt="Extract facts about the city.",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result = agent.run_sync("The capital of the Czech Republic")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print(result.output)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B95A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City(name='Prague', country='Czech Republic', ...)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9243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9A5B0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· AI AGENTS</a:t>
            </a:r>
            <a:endParaRPr lang="en-US" sz="1200" dirty="0"/>
          </a:p>
        </p:txBody>
      </p:sp>
      <p:pic>
        <p:nvPicPr>
          <p:cNvPr id="3" name="Image 0" descr="CrewAI logo">    </p:cNvPr>
          <p:cNvPicPr>
            <a:picLocks noChangeAspect="1"/>
          </p:cNvPicPr>
          <p:nvPr/>
        </p:nvPicPr>
        <p:blipFill>
          <a:blip r:embed="rId1"/>
          <a:srcRect l="-73" r="-73" t="0" b="0"/>
          <a:stretch/>
        </p:blipFill>
        <p:spPr>
          <a:xfrm>
            <a:off x="812800" y="1229370"/>
            <a:ext cx="584200" cy="6604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092970"/>
            <a:ext cx="39243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CrewAI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799085"/>
            <a:ext cx="3924300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F48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framework for teams ("crews") of role-playing AI agents. Each agent has a role, goal and backstory; tasks are handed out and run in sequence or under a manager agent.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4383410"/>
            <a:ext cx="1042114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Multi-agent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931114" y="4383410"/>
            <a:ext cx="633968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641283" y="4383410"/>
            <a:ext cx="950198" cy="314960"/>
          </a:xfrm>
          <a:prstGeom prst="roundRect">
            <a:avLst>
              <a:gd name="adj" fmla="val 50000"/>
            </a:avLst>
          </a:prstGeom>
          <a:solidFill>
            <a:srgbClr val="E9E4D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80000" y="812800"/>
            <a:ext cx="6299200" cy="5232400"/>
          </a:xfrm>
          <a:prstGeom prst="roundRect">
            <a:avLst>
              <a:gd name="adj" fmla="val 2427"/>
            </a:avLst>
          </a:prstGeom>
          <a:solidFill>
            <a:srgbClr val="1B2230"/>
          </a:solidFill>
          <a:ln/>
        </p:spPr>
      </p:sp>
      <p:sp>
        <p:nvSpPr>
          <p:cNvPr id="10" name="Text 7"/>
          <p:cNvSpPr/>
          <p:nvPr/>
        </p:nvSpPr>
        <p:spPr>
          <a:xfrm>
            <a:off x="5334000" y="1066800"/>
            <a:ext cx="5964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pip install crewai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34000" y="1432570"/>
            <a:ext cx="5964936" cy="3911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crewai import Agent, Task, Crew, Process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researcher = Agent(role="Researcher",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goal="Find the latest MLOps trends",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backstory="A meticulous industry analyst.")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writer = Agent(role="Writer",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goal="Explain findings clearly",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backstory="A technical writer for engineers.")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research = Task(description="Research MLOps trends.",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expected_output="5 bullet points", agent=researcher)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article = Task(description="Write a short blog post.",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expected_output="A 150-word paragraph", agent=writer)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crew = Crew(agents=[researcher, writer],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tasks=[research, article], process=Process.sequential)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4E8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print(crew.kickoff())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8A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2627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1A2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print("Thank you")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415555"/>
            <a:ext cx="981075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141A2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with one library per layer.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20555"/>
            <a:ext cx="91567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A2F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the next one only when the project outgrows it: Pandas before Polars, Matplotlib before Plotly, a script before an orchestrator.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 Python AI Stack">
  <a:themeElements>
    <a:clrScheme name="The Python AI Stack">
      <a:dk1>
        <a:srgbClr val="3F4856"/>
      </a:dk1>
      <a:lt1>
        <a:srgbClr val="F5F3EE"/>
      </a:lt1>
      <a:dk2>
        <a:srgbClr val="6D737C"/>
      </a:dk2>
      <a:lt2>
        <a:srgbClr val="E3E2DF"/>
      </a:lt2>
      <a:accent1>
        <a:srgbClr val="E8A33D"/>
      </a:accent1>
      <a:accent2>
        <a:srgbClr val="9A5B0C"/>
      </a:accent2>
      <a:accent3>
        <a:srgbClr val="141A24"/>
      </a:accent3>
      <a:accent4>
        <a:srgbClr val="1B2230"/>
      </a:accent4>
      <a:accent5>
        <a:srgbClr val="B9C2CF"/>
      </a:accent5>
      <a:accent6>
        <a:srgbClr val="2A2F38"/>
      </a:accent6>
      <a:hlink>
        <a:srgbClr val="0563C1"/>
      </a:hlink>
      <a:folHlink>
        <a:srgbClr val="954F72"/>
      </a:folHlink>
    </a:clrScheme>
    <a:fontScheme name="The Python AI Stack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Python AI Stack</dc:title>
  <dc:subject/>
  <dc:creator/>
  <cp:lastModifiedBy/>
  <cp:revision>1</cp:revision>
  <dcterms:created xsi:type="dcterms:W3CDTF">2026-10-04T19:27:35Z</dcterms:created>
  <dcterms:modified xsi:type="dcterms:W3CDTF">2026-10-04T19:27:35Z</dcterms:modified>
</cp:coreProperties>
</file>